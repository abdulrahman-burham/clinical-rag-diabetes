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705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07F"/>
        </a:solidFill>
        <a:effectLst/>
      </p:bgPr>
    </p:bg>
    <p:spTree>
      <p:nvGrpSpPr>
        <p:cNvPr id="1" name=""/>
        <p:cNvGrpSpPr/>
        <p:nvPr/>
      </p:nvGrpSpPr>
      <p:grpSpPr>
        <a:xfrm>
          <a:off x="0" y="0"/>
          <a:ext cx="0" cy="0"/>
          <a:chOff x="0" y="0"/>
          <a:chExt cx="0" cy="0"/>
        </a:xfrm>
      </p:grpSpPr>
      <p:pic>
        <p:nvPicPr>
          <p:cNvPr id="2" name="Image 0" descr="/home/claude/day4deck/logo_dark.jpg"/>
          <p:cNvPicPr>
            <a:picLocks noChangeAspect="1"/>
          </p:cNvPicPr>
          <p:nvPr/>
        </p:nvPicPr>
        <p:blipFill>
          <a:blip r:embed="rId3"/>
          <a:stretch>
            <a:fillRect/>
          </a:stretch>
        </p:blipFill>
        <p:spPr>
          <a:xfrm>
            <a:off x="5413248" y="502920"/>
            <a:ext cx="1371600" cy="1371600"/>
          </a:xfrm>
          <a:prstGeom prst="rect">
            <a:avLst/>
          </a:prstGeom>
        </p:spPr>
      </p:pic>
      <p:sp>
        <p:nvSpPr>
          <p:cNvPr id="3" name="Text 0"/>
          <p:cNvSpPr/>
          <p:nvPr/>
        </p:nvSpPr>
        <p:spPr>
          <a:xfrm>
            <a:off x="1737360" y="2331720"/>
            <a:ext cx="457200" cy="1188720"/>
          </a:xfrm>
          <a:prstGeom prst="rect">
            <a:avLst/>
          </a:prstGeom>
          <a:noFill/>
          <a:ln/>
        </p:spPr>
        <p:txBody>
          <a:bodyPr wrap="square" lIns="0" tIns="0" rIns="0" bIns="0" rtlCol="0" anchor="ctr"/>
          <a:lstStyle/>
          <a:p>
            <a:pPr marL="0" indent="0" algn="l">
              <a:buNone/>
            </a:pPr>
            <a:r>
              <a:rPr lang="en-US" sz="5720" b="1" dirty="0">
                <a:solidFill>
                  <a:srgbClr val="00C7FF"/>
                </a:solidFill>
                <a:latin typeface="Cambria" pitchFamily="34" charset="0"/>
                <a:ea typeface="Cambria" pitchFamily="34" charset="-122"/>
                <a:cs typeface="Cambria" pitchFamily="34" charset="-120"/>
              </a:rPr>
              <a:t>[</a:t>
            </a:r>
            <a:endParaRPr lang="en-US" sz="5720" dirty="0"/>
          </a:p>
        </p:txBody>
      </p:sp>
      <p:sp>
        <p:nvSpPr>
          <p:cNvPr id="4" name="Text 1"/>
          <p:cNvSpPr/>
          <p:nvPr/>
        </p:nvSpPr>
        <p:spPr>
          <a:xfrm>
            <a:off x="9994392" y="2331720"/>
            <a:ext cx="457200" cy="1188720"/>
          </a:xfrm>
          <a:prstGeom prst="rect">
            <a:avLst/>
          </a:prstGeom>
          <a:noFill/>
          <a:ln/>
        </p:spPr>
        <p:txBody>
          <a:bodyPr wrap="square" lIns="0" tIns="0" rIns="0" bIns="0" rtlCol="0" anchor="ctr"/>
          <a:lstStyle/>
          <a:p>
            <a:pPr marL="0" indent="0" algn="r">
              <a:buNone/>
            </a:pPr>
            <a:r>
              <a:rPr lang="en-US" sz="5720" b="1" dirty="0">
                <a:solidFill>
                  <a:srgbClr val="00C7FF"/>
                </a:solidFill>
                <a:latin typeface="Cambria" pitchFamily="34" charset="0"/>
                <a:ea typeface="Cambria" pitchFamily="34" charset="-122"/>
                <a:cs typeface="Cambria" pitchFamily="34" charset="-120"/>
              </a:rPr>
              <a:t>]</a:t>
            </a:r>
            <a:endParaRPr lang="en-US" sz="5720" dirty="0"/>
          </a:p>
        </p:txBody>
      </p:sp>
      <p:sp>
        <p:nvSpPr>
          <p:cNvPr id="5" name="Text 2"/>
          <p:cNvSpPr/>
          <p:nvPr/>
        </p:nvSpPr>
        <p:spPr>
          <a:xfrm>
            <a:off x="1737360" y="2331720"/>
            <a:ext cx="8714232" cy="1188720"/>
          </a:xfrm>
          <a:prstGeom prst="rect">
            <a:avLst/>
          </a:prstGeom>
          <a:noFill/>
          <a:ln/>
        </p:spPr>
        <p:txBody>
          <a:bodyPr wrap="square" lIns="0" tIns="0" rIns="0" bIns="0" rtlCol="0" anchor="ctr"/>
          <a:lstStyle/>
          <a:p>
            <a:pPr marL="0" indent="0" algn="ctr">
              <a:buNone/>
            </a:pPr>
            <a:r>
              <a:rPr lang="en-US" sz="6600" b="1" dirty="0">
                <a:solidFill>
                  <a:srgbClr val="FFFFFF"/>
                </a:solidFill>
                <a:latin typeface="Cambria" pitchFamily="34" charset="0"/>
                <a:ea typeface="Cambria" pitchFamily="34" charset="-122"/>
                <a:cs typeface="Cambria" pitchFamily="34" charset="-120"/>
              </a:rPr>
              <a:t>DAY 4</a:t>
            </a:r>
            <a:endParaRPr lang="en-US" sz="6600" dirty="0"/>
          </a:p>
        </p:txBody>
      </p:sp>
      <p:sp>
        <p:nvSpPr>
          <p:cNvPr id="6" name="Text 3"/>
          <p:cNvSpPr/>
          <p:nvPr/>
        </p:nvSpPr>
        <p:spPr>
          <a:xfrm>
            <a:off x="914400" y="3520440"/>
            <a:ext cx="10360152" cy="640080"/>
          </a:xfrm>
          <a:prstGeom prst="rect">
            <a:avLst/>
          </a:prstGeom>
          <a:noFill/>
          <a:ln/>
        </p:spPr>
        <p:txBody>
          <a:bodyPr wrap="square" lIns="0" tIns="0" rIns="0" bIns="0" rtlCol="0" anchor="ctr"/>
          <a:lstStyle/>
          <a:p>
            <a:pPr marL="0" indent="0" algn="ctr">
              <a:buNone/>
            </a:pPr>
            <a:r>
              <a:rPr lang="en-US" sz="2100" b="1" kern="0" spc="100" dirty="0">
                <a:solidFill>
                  <a:srgbClr val="00C7FF"/>
                </a:solidFill>
                <a:latin typeface="Calibri" pitchFamily="34" charset="0"/>
                <a:ea typeface="Calibri" pitchFamily="34" charset="-122"/>
                <a:cs typeface="Calibri" pitchFamily="34" charset="-120"/>
              </a:rPr>
              <a:t>SAFETY, GUARDRAILS &amp; INTERNAL EVALUATION</a:t>
            </a:r>
            <a:endParaRPr lang="en-US" sz="2100" dirty="0"/>
          </a:p>
        </p:txBody>
      </p:sp>
      <p:sp>
        <p:nvSpPr>
          <p:cNvPr id="8" name="Shape 5"/>
          <p:cNvSpPr/>
          <p:nvPr/>
        </p:nvSpPr>
        <p:spPr>
          <a:xfrm>
            <a:off x="5175504" y="4892040"/>
            <a:ext cx="1828800" cy="0"/>
          </a:xfrm>
          <a:prstGeom prst="line">
            <a:avLst/>
          </a:prstGeom>
          <a:noFill/>
          <a:ln w="12700">
            <a:solidFill>
              <a:srgbClr val="163B95"/>
            </a:solidFill>
            <a:prstDash val="solid"/>
          </a:ln>
        </p:spPr>
      </p:sp>
      <p:sp>
        <p:nvSpPr>
          <p:cNvPr id="9" name="Text 6"/>
          <p:cNvSpPr/>
          <p:nvPr/>
        </p:nvSpPr>
        <p:spPr>
          <a:xfrm>
            <a:off x="1280160" y="5989320"/>
            <a:ext cx="9628632" cy="365760"/>
          </a:xfrm>
          <a:prstGeom prst="rect">
            <a:avLst/>
          </a:prstGeom>
          <a:noFill/>
          <a:ln/>
        </p:spPr>
        <p:txBody>
          <a:bodyPr wrap="square" lIns="0" tIns="0" rIns="0" bIns="0" rtlCol="0" anchor="ctr"/>
          <a:lstStyle/>
          <a:p>
            <a:pPr marL="0" indent="0" algn="ctr">
              <a:buNone/>
            </a:pPr>
            <a:r>
              <a:rPr lang="en-US" sz="1200" i="1" dirty="0">
                <a:solidFill>
                  <a:srgbClr val="AFC6EF"/>
                </a:solidFill>
                <a:latin typeface="Calibri" pitchFamily="34" charset="0"/>
                <a:ea typeface="Calibri" pitchFamily="34" charset="-122"/>
                <a:cs typeface="Calibri" pitchFamily="34" charset="-120"/>
              </a:rPr>
              <a:t>Prepared by the Instant Day 4 SME Council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THE COUNCIL BEHIND THIS SESSION</a:t>
            </a:r>
            <a:endParaRPr lang="en-US" sz="1200" dirty="0"/>
          </a:p>
        </p:txBody>
      </p:sp>
      <p:sp>
        <p:nvSpPr>
          <p:cNvPr id="3" name="Text 1"/>
          <p:cNvSpPr/>
          <p:nvPr/>
        </p:nvSpPr>
        <p:spPr>
          <a:xfrm>
            <a:off x="548640" y="868680"/>
            <a:ext cx="8686800" cy="11887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Designed by Three Specialists,</a:t>
            </a:r>
            <a:endParaRPr lang="en-US" sz="3200" dirty="0"/>
          </a:p>
          <a:p>
            <a:pPr marL="0" indent="0">
              <a:buNone/>
            </a:pPr>
            <a:r>
              <a:rPr lang="en-US" sz="3200" b="1" dirty="0">
                <a:solidFill>
                  <a:srgbClr val="111111"/>
                </a:solidFill>
                <a:latin typeface="Cambria" pitchFamily="34" charset="0"/>
                <a:ea typeface="Cambria" pitchFamily="34" charset="-122"/>
                <a:cs typeface="Cambria" pitchFamily="34" charset="-120"/>
              </a:rPr>
              <a:t>Delivered as One Session</a:t>
            </a:r>
            <a:endParaRPr lang="en-US" sz="3200" dirty="0"/>
          </a:p>
        </p:txBody>
      </p:sp>
      <p:sp>
        <p:nvSpPr>
          <p:cNvPr id="4" name="Shape 2"/>
          <p:cNvSpPr/>
          <p:nvPr/>
        </p:nvSpPr>
        <p:spPr>
          <a:xfrm>
            <a:off x="548640" y="2331720"/>
            <a:ext cx="3429000" cy="3291840"/>
          </a:xfrm>
          <a:prstGeom prst="roundRect">
            <a:avLst>
              <a:gd name="adj" fmla="val 2222"/>
            </a:avLst>
          </a:prstGeom>
          <a:solidFill>
            <a:srgbClr val="F1F5FC"/>
          </a:solidFill>
          <a:ln w="12700">
            <a:solidFill>
              <a:srgbClr val="DCE6F7"/>
            </a:solidFill>
            <a:prstDash val="solid"/>
          </a:ln>
        </p:spPr>
      </p:sp>
      <p:sp>
        <p:nvSpPr>
          <p:cNvPr id="5" name="Text 3"/>
          <p:cNvSpPr/>
          <p:nvPr/>
        </p:nvSpPr>
        <p:spPr>
          <a:xfrm>
            <a:off x="822960" y="2606040"/>
            <a:ext cx="457200" cy="502920"/>
          </a:xfrm>
          <a:prstGeom prst="rect">
            <a:avLst/>
          </a:prstGeom>
          <a:noFill/>
          <a:ln/>
        </p:spPr>
        <p:txBody>
          <a:bodyPr wrap="square" lIns="0" tIns="0" rIns="0" bIns="0" rtlCol="0" anchor="ctr"/>
          <a:lstStyle/>
          <a:p>
            <a:pPr marL="0" indent="0" algn="l">
              <a:buNone/>
            </a:pPr>
            <a:r>
              <a:rPr lang="en-US" sz="2420" b="1" dirty="0">
                <a:solidFill>
                  <a:srgbClr val="00C7FF"/>
                </a:solidFill>
                <a:latin typeface="Cambria" pitchFamily="34" charset="0"/>
                <a:ea typeface="Cambria" pitchFamily="34" charset="-122"/>
                <a:cs typeface="Cambria" pitchFamily="34" charset="-120"/>
              </a:rPr>
              <a:t>[</a:t>
            </a:r>
            <a:endParaRPr lang="en-US" sz="2420" dirty="0"/>
          </a:p>
        </p:txBody>
      </p:sp>
      <p:sp>
        <p:nvSpPr>
          <p:cNvPr id="6" name="Text 4"/>
          <p:cNvSpPr/>
          <p:nvPr/>
        </p:nvSpPr>
        <p:spPr>
          <a:xfrm>
            <a:off x="3246120" y="2606040"/>
            <a:ext cx="457200" cy="502920"/>
          </a:xfrm>
          <a:prstGeom prst="rect">
            <a:avLst/>
          </a:prstGeom>
          <a:noFill/>
          <a:ln/>
        </p:spPr>
        <p:txBody>
          <a:bodyPr wrap="square" lIns="0" tIns="0" rIns="0" bIns="0" rtlCol="0" anchor="ctr"/>
          <a:lstStyle/>
          <a:p>
            <a:pPr marL="0" indent="0" algn="r">
              <a:buNone/>
            </a:pPr>
            <a:r>
              <a:rPr lang="en-US" sz="2420" b="1" dirty="0">
                <a:solidFill>
                  <a:srgbClr val="00C7FF"/>
                </a:solidFill>
                <a:latin typeface="Cambria" pitchFamily="34" charset="0"/>
                <a:ea typeface="Cambria" pitchFamily="34" charset="-122"/>
                <a:cs typeface="Cambria" pitchFamily="34" charset="-120"/>
              </a:rPr>
              <a:t>]</a:t>
            </a:r>
            <a:endParaRPr lang="en-US" sz="2420" dirty="0"/>
          </a:p>
        </p:txBody>
      </p:sp>
      <p:sp>
        <p:nvSpPr>
          <p:cNvPr id="7" name="Text 5"/>
          <p:cNvSpPr/>
          <p:nvPr/>
        </p:nvSpPr>
        <p:spPr>
          <a:xfrm>
            <a:off x="822960" y="2606040"/>
            <a:ext cx="2880360" cy="502920"/>
          </a:xfrm>
          <a:prstGeom prst="rect">
            <a:avLst/>
          </a:prstGeom>
          <a:noFill/>
          <a:ln/>
        </p:spPr>
        <p:txBody>
          <a:bodyPr wrap="square" lIns="0" tIns="0" rIns="0" bIns="0" rtlCol="0" anchor="ctr"/>
          <a:lstStyle/>
          <a:p>
            <a:pPr marL="0" indent="0" algn="ctr">
              <a:buNone/>
            </a:pPr>
            <a:r>
              <a:rPr lang="en-US" sz="2000" b="1" dirty="0">
                <a:solidFill>
                  <a:srgbClr val="0F307F"/>
                </a:solidFill>
                <a:latin typeface="Cambria" pitchFamily="34" charset="0"/>
                <a:ea typeface="Cambria" pitchFamily="34" charset="-122"/>
                <a:cs typeface="Cambria" pitchFamily="34" charset="-120"/>
              </a:rPr>
              <a:t>01</a:t>
            </a:r>
            <a:endParaRPr lang="en-US" sz="2000" dirty="0"/>
          </a:p>
        </p:txBody>
      </p:sp>
      <p:sp>
        <p:nvSpPr>
          <p:cNvPr id="8" name="Text 6"/>
          <p:cNvSpPr/>
          <p:nvPr/>
        </p:nvSpPr>
        <p:spPr>
          <a:xfrm>
            <a:off x="822960" y="3291840"/>
            <a:ext cx="2880360" cy="868680"/>
          </a:xfrm>
          <a:prstGeom prst="rect">
            <a:avLst/>
          </a:prstGeom>
          <a:noFill/>
          <a:ln/>
        </p:spPr>
        <p:txBody>
          <a:bodyPr wrap="square" lIns="0" tIns="0" rIns="0" bIns="0" rtlCol="0" anchor="t"/>
          <a:lstStyle/>
          <a:p>
            <a:pPr marL="0" indent="0" algn="ctr">
              <a:buNone/>
            </a:pPr>
            <a:r>
              <a:rPr lang="en-US" sz="1700" b="1" dirty="0">
                <a:solidFill>
                  <a:srgbClr val="111111"/>
                </a:solidFill>
                <a:latin typeface="Cambria" pitchFamily="34" charset="0"/>
                <a:ea typeface="Cambria" pitchFamily="34" charset="-122"/>
                <a:cs typeface="Cambria" pitchFamily="34" charset="-120"/>
              </a:rPr>
              <a:t>Responsible AI &amp;</a:t>
            </a:r>
            <a:endParaRPr lang="en-US" sz="1700" dirty="0"/>
          </a:p>
          <a:p>
            <a:pPr marL="0" indent="0" algn="ctr">
              <a:buNone/>
            </a:pPr>
            <a:r>
              <a:rPr lang="en-US" sz="1700" b="1" dirty="0">
                <a:solidFill>
                  <a:srgbClr val="111111"/>
                </a:solidFill>
                <a:latin typeface="Cambria" pitchFamily="34" charset="0"/>
                <a:ea typeface="Cambria" pitchFamily="34" charset="-122"/>
                <a:cs typeface="Cambria" pitchFamily="34" charset="-120"/>
              </a:rPr>
              <a:t>Clinical Safety Officer</a:t>
            </a:r>
            <a:endParaRPr lang="en-US" sz="1700" dirty="0"/>
          </a:p>
        </p:txBody>
      </p:sp>
      <p:sp>
        <p:nvSpPr>
          <p:cNvPr id="9" name="Text 7"/>
          <p:cNvSpPr/>
          <p:nvPr/>
        </p:nvSpPr>
        <p:spPr>
          <a:xfrm>
            <a:off x="822960" y="4206240"/>
            <a:ext cx="2880360" cy="320040"/>
          </a:xfrm>
          <a:prstGeom prst="rect">
            <a:avLst/>
          </a:prstGeom>
          <a:noFill/>
          <a:ln/>
        </p:spPr>
        <p:txBody>
          <a:bodyPr wrap="square" lIns="0" tIns="0" rIns="0" bIns="0" rtlCol="0" anchor="ctr"/>
          <a:lstStyle/>
          <a:p>
            <a:pPr marL="0" indent="0" algn="ctr">
              <a:buNone/>
            </a:pPr>
            <a:r>
              <a:rPr lang="en-US" sz="1200" b="1" dirty="0">
                <a:solidFill>
                  <a:srgbClr val="0F307F"/>
                </a:solidFill>
                <a:latin typeface="Calibri" pitchFamily="34" charset="0"/>
                <a:ea typeface="Calibri" pitchFamily="34" charset="-122"/>
                <a:cs typeface="Calibri" pitchFamily="34" charset="-120"/>
              </a:rPr>
              <a:t>Lead Trainer — Day 4</a:t>
            </a:r>
            <a:endParaRPr lang="en-US" sz="1200" dirty="0"/>
          </a:p>
        </p:txBody>
      </p:sp>
      <p:sp>
        <p:nvSpPr>
          <p:cNvPr id="10" name="Text 8"/>
          <p:cNvSpPr/>
          <p:nvPr/>
        </p:nvSpPr>
        <p:spPr>
          <a:xfrm>
            <a:off x="822960" y="4617720"/>
            <a:ext cx="2880360" cy="914400"/>
          </a:xfrm>
          <a:prstGeom prst="rect">
            <a:avLst/>
          </a:prstGeom>
          <a:noFill/>
          <a:ln/>
        </p:spPr>
        <p:txBody>
          <a:bodyPr wrap="square" lIns="0" tIns="0" rIns="0" bIns="0" rtlCol="0" anchor="ctr"/>
          <a:lstStyle/>
          <a:p>
            <a:pPr marL="0" indent="0" algn="ctr">
              <a:buNone/>
            </a:pPr>
            <a:r>
              <a:rPr lang="en-US" sz="1150" dirty="0">
                <a:solidFill>
                  <a:srgbClr val="5A6472"/>
                </a:solidFill>
                <a:latin typeface="Calibri" pitchFamily="34" charset="0"/>
                <a:ea typeface="Calibri" pitchFamily="34" charset="-122"/>
                <a:cs typeface="Calibri" pitchFamily="34" charset="-120"/>
              </a:rPr>
              <a:t>Owns confidence thresholds, unsupported claim detection, and clinical risk.</a:t>
            </a:r>
            <a:endParaRPr lang="en-US" sz="1150" dirty="0"/>
          </a:p>
        </p:txBody>
      </p:sp>
      <p:sp>
        <p:nvSpPr>
          <p:cNvPr id="11" name="Shape 9"/>
          <p:cNvSpPr/>
          <p:nvPr/>
        </p:nvSpPr>
        <p:spPr>
          <a:xfrm>
            <a:off x="4297680" y="2331720"/>
            <a:ext cx="3429000" cy="3291840"/>
          </a:xfrm>
          <a:prstGeom prst="roundRect">
            <a:avLst>
              <a:gd name="adj" fmla="val 2222"/>
            </a:avLst>
          </a:prstGeom>
          <a:solidFill>
            <a:srgbClr val="F1F5FC"/>
          </a:solidFill>
          <a:ln w="12700">
            <a:solidFill>
              <a:srgbClr val="DCE6F7"/>
            </a:solidFill>
            <a:prstDash val="solid"/>
          </a:ln>
        </p:spPr>
      </p:sp>
      <p:sp>
        <p:nvSpPr>
          <p:cNvPr id="12" name="Text 10"/>
          <p:cNvSpPr/>
          <p:nvPr/>
        </p:nvSpPr>
        <p:spPr>
          <a:xfrm>
            <a:off x="4572000" y="2606040"/>
            <a:ext cx="457200" cy="502920"/>
          </a:xfrm>
          <a:prstGeom prst="rect">
            <a:avLst/>
          </a:prstGeom>
          <a:noFill/>
          <a:ln/>
        </p:spPr>
        <p:txBody>
          <a:bodyPr wrap="square" lIns="0" tIns="0" rIns="0" bIns="0" rtlCol="0" anchor="ctr"/>
          <a:lstStyle/>
          <a:p>
            <a:pPr marL="0" indent="0" algn="l">
              <a:buNone/>
            </a:pPr>
            <a:r>
              <a:rPr lang="en-US" sz="2420" b="1" dirty="0">
                <a:solidFill>
                  <a:srgbClr val="00C7FF"/>
                </a:solidFill>
                <a:latin typeface="Cambria" pitchFamily="34" charset="0"/>
                <a:ea typeface="Cambria" pitchFamily="34" charset="-122"/>
                <a:cs typeface="Cambria" pitchFamily="34" charset="-120"/>
              </a:rPr>
              <a:t>[</a:t>
            </a:r>
            <a:endParaRPr lang="en-US" sz="2420" dirty="0"/>
          </a:p>
        </p:txBody>
      </p:sp>
      <p:sp>
        <p:nvSpPr>
          <p:cNvPr id="13" name="Text 11"/>
          <p:cNvSpPr/>
          <p:nvPr/>
        </p:nvSpPr>
        <p:spPr>
          <a:xfrm>
            <a:off x="6995160" y="2606040"/>
            <a:ext cx="457200" cy="502920"/>
          </a:xfrm>
          <a:prstGeom prst="rect">
            <a:avLst/>
          </a:prstGeom>
          <a:noFill/>
          <a:ln/>
        </p:spPr>
        <p:txBody>
          <a:bodyPr wrap="square" lIns="0" tIns="0" rIns="0" bIns="0" rtlCol="0" anchor="ctr"/>
          <a:lstStyle/>
          <a:p>
            <a:pPr marL="0" indent="0" algn="r">
              <a:buNone/>
            </a:pPr>
            <a:r>
              <a:rPr lang="en-US" sz="2420" b="1" dirty="0">
                <a:solidFill>
                  <a:srgbClr val="00C7FF"/>
                </a:solidFill>
                <a:latin typeface="Cambria" pitchFamily="34" charset="0"/>
                <a:ea typeface="Cambria" pitchFamily="34" charset="-122"/>
                <a:cs typeface="Cambria" pitchFamily="34" charset="-120"/>
              </a:rPr>
              <a:t>]</a:t>
            </a:r>
            <a:endParaRPr lang="en-US" sz="2420" dirty="0"/>
          </a:p>
        </p:txBody>
      </p:sp>
      <p:sp>
        <p:nvSpPr>
          <p:cNvPr id="14" name="Text 12"/>
          <p:cNvSpPr/>
          <p:nvPr/>
        </p:nvSpPr>
        <p:spPr>
          <a:xfrm>
            <a:off x="4572000" y="2606040"/>
            <a:ext cx="2880360" cy="502920"/>
          </a:xfrm>
          <a:prstGeom prst="rect">
            <a:avLst/>
          </a:prstGeom>
          <a:noFill/>
          <a:ln/>
        </p:spPr>
        <p:txBody>
          <a:bodyPr wrap="square" lIns="0" tIns="0" rIns="0" bIns="0" rtlCol="0" anchor="ctr"/>
          <a:lstStyle/>
          <a:p>
            <a:pPr marL="0" indent="0" algn="ctr">
              <a:buNone/>
            </a:pPr>
            <a:r>
              <a:rPr lang="en-US" sz="2000" b="1" dirty="0">
                <a:solidFill>
                  <a:srgbClr val="0F307F"/>
                </a:solidFill>
                <a:latin typeface="Cambria" pitchFamily="34" charset="0"/>
                <a:ea typeface="Cambria" pitchFamily="34" charset="-122"/>
                <a:cs typeface="Cambria" pitchFamily="34" charset="-120"/>
              </a:rPr>
              <a:t>02</a:t>
            </a:r>
            <a:endParaRPr lang="en-US" sz="2000" dirty="0"/>
          </a:p>
        </p:txBody>
      </p:sp>
      <p:sp>
        <p:nvSpPr>
          <p:cNvPr id="15" name="Text 13"/>
          <p:cNvSpPr/>
          <p:nvPr/>
        </p:nvSpPr>
        <p:spPr>
          <a:xfrm>
            <a:off x="4572000" y="3291840"/>
            <a:ext cx="2880360" cy="868680"/>
          </a:xfrm>
          <a:prstGeom prst="rect">
            <a:avLst/>
          </a:prstGeom>
          <a:noFill/>
          <a:ln/>
        </p:spPr>
        <p:txBody>
          <a:bodyPr wrap="square" lIns="0" tIns="0" rIns="0" bIns="0" rtlCol="0" anchor="t"/>
          <a:lstStyle/>
          <a:p>
            <a:pPr marL="0" indent="0" algn="ctr">
              <a:buNone/>
            </a:pPr>
            <a:r>
              <a:rPr lang="en-US" sz="1700" b="1" dirty="0">
                <a:solidFill>
                  <a:srgbClr val="111111"/>
                </a:solidFill>
                <a:latin typeface="Cambria" pitchFamily="34" charset="0"/>
                <a:ea typeface="Cambria" pitchFamily="34" charset="-122"/>
                <a:cs typeface="Cambria" pitchFamily="34" charset="-120"/>
              </a:rPr>
              <a:t>Evaluation &amp; Metrics</a:t>
            </a:r>
            <a:endParaRPr lang="en-US" sz="1700" dirty="0"/>
          </a:p>
          <a:p>
            <a:pPr marL="0" indent="0" algn="ctr">
              <a:buNone/>
            </a:pPr>
            <a:r>
              <a:rPr lang="en-US" sz="1700" b="1" dirty="0">
                <a:solidFill>
                  <a:srgbClr val="111111"/>
                </a:solidFill>
                <a:latin typeface="Cambria" pitchFamily="34" charset="0"/>
                <a:ea typeface="Cambria" pitchFamily="34" charset="-122"/>
                <a:cs typeface="Cambria" pitchFamily="34" charset="-120"/>
              </a:rPr>
              <a:t>Specialist</a:t>
            </a:r>
            <a:endParaRPr lang="en-US" sz="1700" dirty="0"/>
          </a:p>
        </p:txBody>
      </p:sp>
      <p:sp>
        <p:nvSpPr>
          <p:cNvPr id="16" name="Text 14"/>
          <p:cNvSpPr/>
          <p:nvPr/>
        </p:nvSpPr>
        <p:spPr>
          <a:xfrm>
            <a:off x="4572000" y="4206240"/>
            <a:ext cx="2880360" cy="320040"/>
          </a:xfrm>
          <a:prstGeom prst="rect">
            <a:avLst/>
          </a:prstGeom>
          <a:noFill/>
          <a:ln/>
        </p:spPr>
        <p:txBody>
          <a:bodyPr wrap="square" lIns="0" tIns="0" rIns="0" bIns="0" rtlCol="0" anchor="ctr"/>
          <a:lstStyle/>
          <a:p>
            <a:pPr marL="0" indent="0" algn="ctr">
              <a:buNone/>
            </a:pPr>
            <a:r>
              <a:rPr lang="en-US" sz="1200" b="1" dirty="0">
                <a:solidFill>
                  <a:srgbClr val="0F307F"/>
                </a:solidFill>
                <a:latin typeface="Calibri" pitchFamily="34" charset="0"/>
                <a:ea typeface="Calibri" pitchFamily="34" charset="-122"/>
                <a:cs typeface="Calibri" pitchFamily="34" charset="-120"/>
              </a:rPr>
              <a:t>Content Advisor</a:t>
            </a:r>
            <a:endParaRPr lang="en-US" sz="1200" dirty="0"/>
          </a:p>
        </p:txBody>
      </p:sp>
      <p:sp>
        <p:nvSpPr>
          <p:cNvPr id="17" name="Text 15"/>
          <p:cNvSpPr/>
          <p:nvPr/>
        </p:nvSpPr>
        <p:spPr>
          <a:xfrm>
            <a:off x="4572000" y="4617720"/>
            <a:ext cx="2880360" cy="914400"/>
          </a:xfrm>
          <a:prstGeom prst="rect">
            <a:avLst/>
          </a:prstGeom>
          <a:noFill/>
          <a:ln/>
        </p:spPr>
        <p:txBody>
          <a:bodyPr wrap="square" lIns="0" tIns="0" rIns="0" bIns="0" rtlCol="0" anchor="ctr"/>
          <a:lstStyle/>
          <a:p>
            <a:pPr marL="0" indent="0" algn="ctr">
              <a:buNone/>
            </a:pPr>
            <a:r>
              <a:rPr lang="en-US" sz="1150" dirty="0">
                <a:solidFill>
                  <a:srgbClr val="5A6472"/>
                </a:solidFill>
                <a:latin typeface="Calibri" pitchFamily="34" charset="0"/>
                <a:ea typeface="Calibri" pitchFamily="34" charset="-122"/>
                <a:cs typeface="Calibri" pitchFamily="34" charset="-120"/>
              </a:rPr>
              <a:t>Defines how Precision@k, citation accuracy, and faithfulness are scored.</a:t>
            </a:r>
            <a:endParaRPr lang="en-US" sz="1150" dirty="0"/>
          </a:p>
        </p:txBody>
      </p:sp>
      <p:sp>
        <p:nvSpPr>
          <p:cNvPr id="18" name="Shape 16"/>
          <p:cNvSpPr/>
          <p:nvPr/>
        </p:nvSpPr>
        <p:spPr>
          <a:xfrm>
            <a:off x="8046720" y="2331720"/>
            <a:ext cx="3429000" cy="3291840"/>
          </a:xfrm>
          <a:prstGeom prst="roundRect">
            <a:avLst>
              <a:gd name="adj" fmla="val 2222"/>
            </a:avLst>
          </a:prstGeom>
          <a:solidFill>
            <a:srgbClr val="F1F5FC"/>
          </a:solidFill>
          <a:ln w="12700">
            <a:solidFill>
              <a:srgbClr val="DCE6F7"/>
            </a:solidFill>
            <a:prstDash val="solid"/>
          </a:ln>
        </p:spPr>
      </p:sp>
      <p:sp>
        <p:nvSpPr>
          <p:cNvPr id="19" name="Text 17"/>
          <p:cNvSpPr/>
          <p:nvPr/>
        </p:nvSpPr>
        <p:spPr>
          <a:xfrm>
            <a:off x="8321040" y="2606040"/>
            <a:ext cx="457200" cy="502920"/>
          </a:xfrm>
          <a:prstGeom prst="rect">
            <a:avLst/>
          </a:prstGeom>
          <a:noFill/>
          <a:ln/>
        </p:spPr>
        <p:txBody>
          <a:bodyPr wrap="square" lIns="0" tIns="0" rIns="0" bIns="0" rtlCol="0" anchor="ctr"/>
          <a:lstStyle/>
          <a:p>
            <a:pPr marL="0" indent="0" algn="l">
              <a:buNone/>
            </a:pPr>
            <a:r>
              <a:rPr lang="en-US" sz="2420" b="1" dirty="0">
                <a:solidFill>
                  <a:srgbClr val="00C7FF"/>
                </a:solidFill>
                <a:latin typeface="Cambria" pitchFamily="34" charset="0"/>
                <a:ea typeface="Cambria" pitchFamily="34" charset="-122"/>
                <a:cs typeface="Cambria" pitchFamily="34" charset="-120"/>
              </a:rPr>
              <a:t>[</a:t>
            </a:r>
            <a:endParaRPr lang="en-US" sz="2420" dirty="0"/>
          </a:p>
        </p:txBody>
      </p:sp>
      <p:sp>
        <p:nvSpPr>
          <p:cNvPr id="20" name="Text 18"/>
          <p:cNvSpPr/>
          <p:nvPr/>
        </p:nvSpPr>
        <p:spPr>
          <a:xfrm>
            <a:off x="10744200" y="2606040"/>
            <a:ext cx="457200" cy="502920"/>
          </a:xfrm>
          <a:prstGeom prst="rect">
            <a:avLst/>
          </a:prstGeom>
          <a:noFill/>
          <a:ln/>
        </p:spPr>
        <p:txBody>
          <a:bodyPr wrap="square" lIns="0" tIns="0" rIns="0" bIns="0" rtlCol="0" anchor="ctr"/>
          <a:lstStyle/>
          <a:p>
            <a:pPr marL="0" indent="0" algn="r">
              <a:buNone/>
            </a:pPr>
            <a:r>
              <a:rPr lang="en-US" sz="2420" b="1" dirty="0">
                <a:solidFill>
                  <a:srgbClr val="00C7FF"/>
                </a:solidFill>
                <a:latin typeface="Cambria" pitchFamily="34" charset="0"/>
                <a:ea typeface="Cambria" pitchFamily="34" charset="-122"/>
                <a:cs typeface="Cambria" pitchFamily="34" charset="-120"/>
              </a:rPr>
              <a:t>]</a:t>
            </a:r>
            <a:endParaRPr lang="en-US" sz="2420" dirty="0"/>
          </a:p>
        </p:txBody>
      </p:sp>
      <p:sp>
        <p:nvSpPr>
          <p:cNvPr id="21" name="Text 19"/>
          <p:cNvSpPr/>
          <p:nvPr/>
        </p:nvSpPr>
        <p:spPr>
          <a:xfrm>
            <a:off x="8321040" y="2606040"/>
            <a:ext cx="2880360" cy="502920"/>
          </a:xfrm>
          <a:prstGeom prst="rect">
            <a:avLst/>
          </a:prstGeom>
          <a:noFill/>
          <a:ln/>
        </p:spPr>
        <p:txBody>
          <a:bodyPr wrap="square" lIns="0" tIns="0" rIns="0" bIns="0" rtlCol="0" anchor="ctr"/>
          <a:lstStyle/>
          <a:p>
            <a:pPr marL="0" indent="0" algn="ctr">
              <a:buNone/>
            </a:pPr>
            <a:r>
              <a:rPr lang="en-US" sz="2000" b="1" dirty="0">
                <a:solidFill>
                  <a:srgbClr val="0F307F"/>
                </a:solidFill>
                <a:latin typeface="Cambria" pitchFamily="34" charset="0"/>
                <a:ea typeface="Cambria" pitchFamily="34" charset="-122"/>
                <a:cs typeface="Cambria" pitchFamily="34" charset="-120"/>
              </a:rPr>
              <a:t>03</a:t>
            </a:r>
            <a:endParaRPr lang="en-US" sz="2000" dirty="0"/>
          </a:p>
        </p:txBody>
      </p:sp>
      <p:sp>
        <p:nvSpPr>
          <p:cNvPr id="22" name="Text 20"/>
          <p:cNvSpPr/>
          <p:nvPr/>
        </p:nvSpPr>
        <p:spPr>
          <a:xfrm>
            <a:off x="8321040" y="3291840"/>
            <a:ext cx="2880360" cy="868680"/>
          </a:xfrm>
          <a:prstGeom prst="rect">
            <a:avLst/>
          </a:prstGeom>
          <a:noFill/>
          <a:ln/>
        </p:spPr>
        <p:txBody>
          <a:bodyPr wrap="square" lIns="0" tIns="0" rIns="0" bIns="0" rtlCol="0" anchor="t"/>
          <a:lstStyle/>
          <a:p>
            <a:pPr marL="0" indent="0" algn="ctr">
              <a:buNone/>
            </a:pPr>
            <a:r>
              <a:rPr lang="en-US" sz="1700" b="1" dirty="0">
                <a:solidFill>
                  <a:srgbClr val="111111"/>
                </a:solidFill>
                <a:latin typeface="Cambria" pitchFamily="34" charset="0"/>
                <a:ea typeface="Cambria" pitchFamily="34" charset="-122"/>
                <a:cs typeface="Cambria" pitchFamily="34" charset="-120"/>
              </a:rPr>
              <a:t>Human Factors &amp;</a:t>
            </a:r>
            <a:endParaRPr lang="en-US" sz="1700" dirty="0"/>
          </a:p>
          <a:p>
            <a:pPr marL="0" indent="0" algn="ctr">
              <a:buNone/>
            </a:pPr>
            <a:r>
              <a:rPr lang="en-US" sz="1700" b="1" dirty="0">
                <a:solidFill>
                  <a:srgbClr val="111111"/>
                </a:solidFill>
                <a:latin typeface="Cambria" pitchFamily="34" charset="0"/>
                <a:ea typeface="Cambria" pitchFamily="34" charset="-122"/>
                <a:cs typeface="Cambria" pitchFamily="34" charset="-120"/>
              </a:rPr>
              <a:t>Automation Bias Advisor</a:t>
            </a:r>
            <a:endParaRPr lang="en-US" sz="1700" dirty="0"/>
          </a:p>
        </p:txBody>
      </p:sp>
      <p:sp>
        <p:nvSpPr>
          <p:cNvPr id="23" name="Text 21"/>
          <p:cNvSpPr/>
          <p:nvPr/>
        </p:nvSpPr>
        <p:spPr>
          <a:xfrm>
            <a:off x="8321040" y="4206240"/>
            <a:ext cx="2880360" cy="320040"/>
          </a:xfrm>
          <a:prstGeom prst="rect">
            <a:avLst/>
          </a:prstGeom>
          <a:noFill/>
          <a:ln/>
        </p:spPr>
        <p:txBody>
          <a:bodyPr wrap="square" lIns="0" tIns="0" rIns="0" bIns="0" rtlCol="0" anchor="ctr"/>
          <a:lstStyle/>
          <a:p>
            <a:pPr marL="0" indent="0" algn="ctr">
              <a:buNone/>
            </a:pPr>
            <a:r>
              <a:rPr lang="en-US" sz="1200" b="1" dirty="0">
                <a:solidFill>
                  <a:srgbClr val="0F307F"/>
                </a:solidFill>
                <a:latin typeface="Calibri" pitchFamily="34" charset="0"/>
                <a:ea typeface="Calibri" pitchFamily="34" charset="-122"/>
                <a:cs typeface="Calibri" pitchFamily="34" charset="-120"/>
              </a:rPr>
              <a:t>Technical Advisor</a:t>
            </a:r>
            <a:endParaRPr lang="en-US" sz="1200" dirty="0"/>
          </a:p>
        </p:txBody>
      </p:sp>
      <p:sp>
        <p:nvSpPr>
          <p:cNvPr id="24" name="Text 22"/>
          <p:cNvSpPr/>
          <p:nvPr/>
        </p:nvSpPr>
        <p:spPr>
          <a:xfrm>
            <a:off x="8321040" y="4617720"/>
            <a:ext cx="2880360" cy="914400"/>
          </a:xfrm>
          <a:prstGeom prst="rect">
            <a:avLst/>
          </a:prstGeom>
          <a:noFill/>
          <a:ln/>
        </p:spPr>
        <p:txBody>
          <a:bodyPr wrap="square" lIns="0" tIns="0" rIns="0" bIns="0" rtlCol="0" anchor="ctr"/>
          <a:lstStyle/>
          <a:p>
            <a:pPr marL="0" indent="0" algn="ctr">
              <a:buNone/>
            </a:pPr>
            <a:r>
              <a:rPr lang="en-US" sz="1150" dirty="0">
                <a:solidFill>
                  <a:srgbClr val="5A6472"/>
                </a:solidFill>
                <a:latin typeface="Calibri" pitchFamily="34" charset="0"/>
                <a:ea typeface="Calibri" pitchFamily="34" charset="-122"/>
                <a:cs typeface="Calibri" pitchFamily="34" charset="-120"/>
              </a:rPr>
              <a:t>Ensures uncertainty is communicated honestly to end users.</a:t>
            </a:r>
            <a:endParaRPr lang="en-US" sz="1150" dirty="0"/>
          </a:p>
        </p:txBody>
      </p:sp>
      <p:pic>
        <p:nvPicPr>
          <p:cNvPr id="25"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26" name="Text 23"/>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27" name="Text 24"/>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01</a:t>
            </a:r>
            <a:endParaRPr lang="en-US" sz="900" dirty="0"/>
          </a:p>
        </p:txBody>
      </p:sp>
      <p:pic>
        <p:nvPicPr>
          <p:cNvPr id="28" name="Google Shape;90;p1">
            <a:extLst>
              <a:ext uri="{FF2B5EF4-FFF2-40B4-BE49-F238E27FC236}">
                <a16:creationId xmlns:a16="http://schemas.microsoft.com/office/drawing/2014/main" id="{126942E8-761F-47AF-874A-7575E718BFE6}"/>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LEARNING OBJECTIVES</a:t>
            </a:r>
            <a:endParaRPr lang="en-US" sz="1200" dirty="0"/>
          </a:p>
        </p:txBody>
      </p:sp>
      <p:sp>
        <p:nvSpPr>
          <p:cNvPr id="3" name="Text 1"/>
          <p:cNvSpPr/>
          <p:nvPr/>
        </p:nvSpPr>
        <p:spPr>
          <a:xfrm>
            <a:off x="548640" y="868680"/>
            <a:ext cx="91440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By the End, Every Team Can:</a:t>
            </a:r>
            <a:endParaRPr lang="en-US" sz="3200" dirty="0"/>
          </a:p>
        </p:txBody>
      </p:sp>
      <p:sp>
        <p:nvSpPr>
          <p:cNvPr id="4" name="Shape 2"/>
          <p:cNvSpPr/>
          <p:nvPr/>
        </p:nvSpPr>
        <p:spPr>
          <a:xfrm>
            <a:off x="640080" y="1828800"/>
            <a:ext cx="457200" cy="457200"/>
          </a:xfrm>
          <a:prstGeom prst="roundRect">
            <a:avLst>
              <a:gd name="adj" fmla="val 12000"/>
            </a:avLst>
          </a:prstGeom>
          <a:solidFill>
            <a:srgbClr val="0F307F"/>
          </a:solidFill>
          <a:ln/>
        </p:spPr>
      </p:sp>
      <p:sp>
        <p:nvSpPr>
          <p:cNvPr id="5" name="Text 3"/>
          <p:cNvSpPr/>
          <p:nvPr/>
        </p:nvSpPr>
        <p:spPr>
          <a:xfrm>
            <a:off x="640080" y="1828800"/>
            <a:ext cx="457200" cy="457200"/>
          </a:xfrm>
          <a:prstGeom prst="rect">
            <a:avLst/>
          </a:prstGeom>
          <a:noFill/>
          <a:ln/>
        </p:spPr>
        <p:txBody>
          <a:bodyPr wrap="square" lIns="0" tIns="0" rIns="0" bIns="0" rtlCol="0" anchor="ctr"/>
          <a:lstStyle/>
          <a:p>
            <a:pPr marL="0" indent="0" algn="ctr">
              <a:buNone/>
            </a:pPr>
            <a:r>
              <a:rPr lang="en-US" sz="1600" b="1" dirty="0">
                <a:solidFill>
                  <a:srgbClr val="00C7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280160" y="1783080"/>
            <a:ext cx="10241280" cy="548640"/>
          </a:xfrm>
          <a:prstGeom prst="rect">
            <a:avLst/>
          </a:prstGeom>
          <a:noFill/>
          <a:ln/>
        </p:spPr>
        <p:txBody>
          <a:bodyPr wrap="square" lIns="0" tIns="0" rIns="0" bIns="0" rtlCol="0" anchor="ctr"/>
          <a:lstStyle/>
          <a:p>
            <a:pPr marL="0" indent="0">
              <a:buNone/>
            </a:pPr>
            <a:r>
              <a:rPr lang="en-US" sz="1450" dirty="0">
                <a:solidFill>
                  <a:srgbClr val="111111"/>
                </a:solidFill>
                <a:latin typeface="Calibri" pitchFamily="34" charset="0"/>
                <a:ea typeface="Calibri" pitchFamily="34" charset="-122"/>
                <a:cs typeface="Calibri" pitchFamily="34" charset="-120"/>
              </a:rPr>
              <a:t>Set and justify a retrieval confidence threshold</a:t>
            </a:r>
            <a:endParaRPr lang="en-US" sz="1450" dirty="0"/>
          </a:p>
        </p:txBody>
      </p:sp>
      <p:sp>
        <p:nvSpPr>
          <p:cNvPr id="7" name="Shape 5"/>
          <p:cNvSpPr/>
          <p:nvPr/>
        </p:nvSpPr>
        <p:spPr>
          <a:xfrm>
            <a:off x="640080" y="2487168"/>
            <a:ext cx="457200" cy="457200"/>
          </a:xfrm>
          <a:prstGeom prst="roundRect">
            <a:avLst>
              <a:gd name="adj" fmla="val 12000"/>
            </a:avLst>
          </a:prstGeom>
          <a:solidFill>
            <a:srgbClr val="0F307F"/>
          </a:solidFill>
          <a:ln/>
        </p:spPr>
      </p:sp>
      <p:sp>
        <p:nvSpPr>
          <p:cNvPr id="8" name="Text 6"/>
          <p:cNvSpPr/>
          <p:nvPr/>
        </p:nvSpPr>
        <p:spPr>
          <a:xfrm>
            <a:off x="640080" y="2487168"/>
            <a:ext cx="457200" cy="457200"/>
          </a:xfrm>
          <a:prstGeom prst="rect">
            <a:avLst/>
          </a:prstGeom>
          <a:noFill/>
          <a:ln/>
        </p:spPr>
        <p:txBody>
          <a:bodyPr wrap="square" lIns="0" tIns="0" rIns="0" bIns="0" rtlCol="0" anchor="ctr"/>
          <a:lstStyle/>
          <a:p>
            <a:pPr marL="0" indent="0" algn="ctr">
              <a:buNone/>
            </a:pPr>
            <a:r>
              <a:rPr lang="en-US" sz="1600" b="1" dirty="0">
                <a:solidFill>
                  <a:srgbClr val="00C7FF"/>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1280160" y="2441448"/>
            <a:ext cx="10241280" cy="548640"/>
          </a:xfrm>
          <a:prstGeom prst="rect">
            <a:avLst/>
          </a:prstGeom>
          <a:noFill/>
          <a:ln/>
        </p:spPr>
        <p:txBody>
          <a:bodyPr wrap="square" lIns="0" tIns="0" rIns="0" bIns="0" rtlCol="0" anchor="ctr"/>
          <a:lstStyle/>
          <a:p>
            <a:pPr marL="0" indent="0">
              <a:buNone/>
            </a:pPr>
            <a:r>
              <a:rPr lang="en-US" sz="1450" dirty="0">
                <a:solidFill>
                  <a:srgbClr val="111111"/>
                </a:solidFill>
                <a:latin typeface="Calibri" pitchFamily="34" charset="0"/>
                <a:ea typeface="Calibri" pitchFamily="34" charset="-122"/>
                <a:cs typeface="Calibri" pitchFamily="34" charset="-120"/>
              </a:rPr>
              <a:t>Detect when a generated answer contains an unsupported claim</a:t>
            </a:r>
            <a:endParaRPr lang="en-US" sz="1450" dirty="0"/>
          </a:p>
        </p:txBody>
      </p:sp>
      <p:sp>
        <p:nvSpPr>
          <p:cNvPr id="10" name="Shape 8"/>
          <p:cNvSpPr/>
          <p:nvPr/>
        </p:nvSpPr>
        <p:spPr>
          <a:xfrm>
            <a:off x="640080" y="3145536"/>
            <a:ext cx="457200" cy="457200"/>
          </a:xfrm>
          <a:prstGeom prst="roundRect">
            <a:avLst>
              <a:gd name="adj" fmla="val 12000"/>
            </a:avLst>
          </a:prstGeom>
          <a:solidFill>
            <a:srgbClr val="0F307F"/>
          </a:solidFill>
          <a:ln/>
        </p:spPr>
      </p:sp>
      <p:sp>
        <p:nvSpPr>
          <p:cNvPr id="11" name="Text 9"/>
          <p:cNvSpPr/>
          <p:nvPr/>
        </p:nvSpPr>
        <p:spPr>
          <a:xfrm>
            <a:off x="640080" y="3145536"/>
            <a:ext cx="457200" cy="457200"/>
          </a:xfrm>
          <a:prstGeom prst="rect">
            <a:avLst/>
          </a:prstGeom>
          <a:noFill/>
          <a:ln/>
        </p:spPr>
        <p:txBody>
          <a:bodyPr wrap="square" lIns="0" tIns="0" rIns="0" bIns="0" rtlCol="0" anchor="ctr"/>
          <a:lstStyle/>
          <a:p>
            <a:pPr marL="0" indent="0" algn="ctr">
              <a:buNone/>
            </a:pPr>
            <a:r>
              <a:rPr lang="en-US" sz="1600" b="1" dirty="0">
                <a:solidFill>
                  <a:srgbClr val="00C7FF"/>
                </a:solidFill>
                <a:latin typeface="Cambria" pitchFamily="34" charset="0"/>
                <a:ea typeface="Cambria" pitchFamily="34" charset="-122"/>
                <a:cs typeface="Cambria" pitchFamily="34" charset="-120"/>
              </a:rPr>
              <a:t>3</a:t>
            </a:r>
            <a:endParaRPr lang="en-US" sz="1600" dirty="0"/>
          </a:p>
        </p:txBody>
      </p:sp>
      <p:sp>
        <p:nvSpPr>
          <p:cNvPr id="12" name="Text 10"/>
          <p:cNvSpPr/>
          <p:nvPr/>
        </p:nvSpPr>
        <p:spPr>
          <a:xfrm>
            <a:off x="1280160" y="3099816"/>
            <a:ext cx="10241280" cy="548640"/>
          </a:xfrm>
          <a:prstGeom prst="rect">
            <a:avLst/>
          </a:prstGeom>
          <a:noFill/>
          <a:ln/>
        </p:spPr>
        <p:txBody>
          <a:bodyPr wrap="square" lIns="0" tIns="0" rIns="0" bIns="0" rtlCol="0" anchor="ctr"/>
          <a:lstStyle/>
          <a:p>
            <a:pPr marL="0" indent="0">
              <a:buNone/>
            </a:pPr>
            <a:r>
              <a:rPr lang="en-US" sz="1450" dirty="0">
                <a:solidFill>
                  <a:srgbClr val="111111"/>
                </a:solidFill>
                <a:latin typeface="Calibri" pitchFamily="34" charset="0"/>
                <a:ea typeface="Calibri" pitchFamily="34" charset="-122"/>
                <a:cs typeface="Calibri" pitchFamily="34" charset="-120"/>
              </a:rPr>
              <a:t>Compute Retrieval Precision@k, citation accuracy, and faithfulness</a:t>
            </a:r>
            <a:endParaRPr lang="en-US" sz="1450" dirty="0"/>
          </a:p>
        </p:txBody>
      </p:sp>
      <p:sp>
        <p:nvSpPr>
          <p:cNvPr id="13" name="Shape 11"/>
          <p:cNvSpPr/>
          <p:nvPr/>
        </p:nvSpPr>
        <p:spPr>
          <a:xfrm>
            <a:off x="640080" y="3803904"/>
            <a:ext cx="457200" cy="457200"/>
          </a:xfrm>
          <a:prstGeom prst="roundRect">
            <a:avLst>
              <a:gd name="adj" fmla="val 12000"/>
            </a:avLst>
          </a:prstGeom>
          <a:solidFill>
            <a:srgbClr val="0F307F"/>
          </a:solidFill>
          <a:ln/>
        </p:spPr>
      </p:sp>
      <p:sp>
        <p:nvSpPr>
          <p:cNvPr id="14" name="Text 12"/>
          <p:cNvSpPr/>
          <p:nvPr/>
        </p:nvSpPr>
        <p:spPr>
          <a:xfrm>
            <a:off x="640080" y="3803904"/>
            <a:ext cx="457200" cy="457200"/>
          </a:xfrm>
          <a:prstGeom prst="rect">
            <a:avLst/>
          </a:prstGeom>
          <a:noFill/>
          <a:ln/>
        </p:spPr>
        <p:txBody>
          <a:bodyPr wrap="square" lIns="0" tIns="0" rIns="0" bIns="0" rtlCol="0" anchor="ctr"/>
          <a:lstStyle/>
          <a:p>
            <a:pPr marL="0" indent="0" algn="ctr">
              <a:buNone/>
            </a:pPr>
            <a:r>
              <a:rPr lang="en-US" sz="1600" b="1" dirty="0">
                <a:solidFill>
                  <a:srgbClr val="00C7FF"/>
                </a:solidFill>
                <a:latin typeface="Cambria" pitchFamily="34" charset="0"/>
                <a:ea typeface="Cambria" pitchFamily="34" charset="-122"/>
                <a:cs typeface="Cambria" pitchFamily="34" charset="-120"/>
              </a:rPr>
              <a:t>4</a:t>
            </a:r>
            <a:endParaRPr lang="en-US" sz="1600" dirty="0"/>
          </a:p>
        </p:txBody>
      </p:sp>
      <p:sp>
        <p:nvSpPr>
          <p:cNvPr id="15" name="Text 13"/>
          <p:cNvSpPr/>
          <p:nvPr/>
        </p:nvSpPr>
        <p:spPr>
          <a:xfrm>
            <a:off x="1280160" y="3758184"/>
            <a:ext cx="10241280" cy="548640"/>
          </a:xfrm>
          <a:prstGeom prst="rect">
            <a:avLst/>
          </a:prstGeom>
          <a:noFill/>
          <a:ln/>
        </p:spPr>
        <p:txBody>
          <a:bodyPr wrap="square" lIns="0" tIns="0" rIns="0" bIns="0" rtlCol="0" anchor="ctr"/>
          <a:lstStyle/>
          <a:p>
            <a:pPr marL="0" indent="0">
              <a:buNone/>
            </a:pPr>
            <a:r>
              <a:rPr lang="en-US" sz="1450" dirty="0">
                <a:solidFill>
                  <a:srgbClr val="111111"/>
                </a:solidFill>
                <a:latin typeface="Calibri" pitchFamily="34" charset="0"/>
                <a:ea typeface="Calibri" pitchFamily="34" charset="-122"/>
                <a:cs typeface="Calibri" pitchFamily="34" charset="-120"/>
              </a:rPr>
              <a:t>Explain automation bias and why overconfident AI is dangerous in care settings</a:t>
            </a:r>
            <a:endParaRPr lang="en-US" sz="1450" dirty="0"/>
          </a:p>
        </p:txBody>
      </p:sp>
      <p:sp>
        <p:nvSpPr>
          <p:cNvPr id="16" name="Shape 14"/>
          <p:cNvSpPr/>
          <p:nvPr/>
        </p:nvSpPr>
        <p:spPr>
          <a:xfrm>
            <a:off x="640080" y="4462272"/>
            <a:ext cx="457200" cy="457200"/>
          </a:xfrm>
          <a:prstGeom prst="roundRect">
            <a:avLst>
              <a:gd name="adj" fmla="val 12000"/>
            </a:avLst>
          </a:prstGeom>
          <a:solidFill>
            <a:srgbClr val="0F307F"/>
          </a:solidFill>
          <a:ln/>
        </p:spPr>
      </p:sp>
      <p:sp>
        <p:nvSpPr>
          <p:cNvPr id="17" name="Text 15"/>
          <p:cNvSpPr/>
          <p:nvPr/>
        </p:nvSpPr>
        <p:spPr>
          <a:xfrm>
            <a:off x="640080" y="4462272"/>
            <a:ext cx="457200" cy="457200"/>
          </a:xfrm>
          <a:prstGeom prst="rect">
            <a:avLst/>
          </a:prstGeom>
          <a:noFill/>
          <a:ln/>
        </p:spPr>
        <p:txBody>
          <a:bodyPr wrap="square" lIns="0" tIns="0" rIns="0" bIns="0" rtlCol="0" anchor="ctr"/>
          <a:lstStyle/>
          <a:p>
            <a:pPr marL="0" indent="0" algn="ctr">
              <a:buNone/>
            </a:pPr>
            <a:r>
              <a:rPr lang="en-US" sz="1600" b="1" dirty="0">
                <a:solidFill>
                  <a:srgbClr val="00C7FF"/>
                </a:solidFill>
                <a:latin typeface="Cambria" pitchFamily="34" charset="0"/>
                <a:ea typeface="Cambria" pitchFamily="34" charset="-122"/>
                <a:cs typeface="Cambria" pitchFamily="34" charset="-120"/>
              </a:rPr>
              <a:t>5</a:t>
            </a:r>
            <a:endParaRPr lang="en-US" sz="1600" dirty="0"/>
          </a:p>
        </p:txBody>
      </p:sp>
      <p:sp>
        <p:nvSpPr>
          <p:cNvPr id="18" name="Text 16"/>
          <p:cNvSpPr/>
          <p:nvPr/>
        </p:nvSpPr>
        <p:spPr>
          <a:xfrm>
            <a:off x="1280160" y="4416552"/>
            <a:ext cx="10241280" cy="548640"/>
          </a:xfrm>
          <a:prstGeom prst="rect">
            <a:avLst/>
          </a:prstGeom>
          <a:noFill/>
          <a:ln/>
        </p:spPr>
        <p:txBody>
          <a:bodyPr wrap="square" lIns="0" tIns="0" rIns="0" bIns="0" rtlCol="0" anchor="ctr"/>
          <a:lstStyle/>
          <a:p>
            <a:pPr marL="0" indent="0">
              <a:buNone/>
            </a:pPr>
            <a:r>
              <a:rPr lang="en-US" sz="1450" dirty="0">
                <a:solidFill>
                  <a:srgbClr val="111111"/>
                </a:solidFill>
                <a:latin typeface="Calibri" pitchFamily="34" charset="0"/>
                <a:ea typeface="Calibri" pitchFamily="34" charset="-122"/>
                <a:cs typeface="Calibri" pitchFamily="34" charset="-120"/>
              </a:rPr>
              <a:t>Write uncertainty language that is honest without being useless</a:t>
            </a:r>
            <a:endParaRPr lang="en-US" sz="1450" dirty="0"/>
          </a:p>
        </p:txBody>
      </p:sp>
      <p:sp>
        <p:nvSpPr>
          <p:cNvPr id="19" name="Shape 17"/>
          <p:cNvSpPr/>
          <p:nvPr/>
        </p:nvSpPr>
        <p:spPr>
          <a:xfrm>
            <a:off x="640080" y="5120640"/>
            <a:ext cx="457200" cy="457200"/>
          </a:xfrm>
          <a:prstGeom prst="roundRect">
            <a:avLst>
              <a:gd name="adj" fmla="val 12000"/>
            </a:avLst>
          </a:prstGeom>
          <a:solidFill>
            <a:srgbClr val="0F307F"/>
          </a:solidFill>
          <a:ln/>
        </p:spPr>
      </p:sp>
      <p:sp>
        <p:nvSpPr>
          <p:cNvPr id="20" name="Text 18"/>
          <p:cNvSpPr/>
          <p:nvPr/>
        </p:nvSpPr>
        <p:spPr>
          <a:xfrm>
            <a:off x="640080" y="5120640"/>
            <a:ext cx="457200" cy="457200"/>
          </a:xfrm>
          <a:prstGeom prst="rect">
            <a:avLst/>
          </a:prstGeom>
          <a:noFill/>
          <a:ln/>
        </p:spPr>
        <p:txBody>
          <a:bodyPr wrap="square" lIns="0" tIns="0" rIns="0" bIns="0" rtlCol="0" anchor="ctr"/>
          <a:lstStyle/>
          <a:p>
            <a:pPr marL="0" indent="0" algn="ctr">
              <a:buNone/>
            </a:pPr>
            <a:r>
              <a:rPr lang="en-US" sz="1600" b="1" dirty="0">
                <a:solidFill>
                  <a:srgbClr val="00C7FF"/>
                </a:solidFill>
                <a:latin typeface="Cambria" pitchFamily="34" charset="0"/>
                <a:ea typeface="Cambria" pitchFamily="34" charset="-122"/>
                <a:cs typeface="Cambria" pitchFamily="34" charset="-120"/>
              </a:rPr>
              <a:t>6</a:t>
            </a:r>
            <a:endParaRPr lang="en-US" sz="1600" dirty="0"/>
          </a:p>
        </p:txBody>
      </p:sp>
      <p:sp>
        <p:nvSpPr>
          <p:cNvPr id="21" name="Text 19"/>
          <p:cNvSpPr/>
          <p:nvPr/>
        </p:nvSpPr>
        <p:spPr>
          <a:xfrm>
            <a:off x="1280160" y="5074920"/>
            <a:ext cx="10241280" cy="548640"/>
          </a:xfrm>
          <a:prstGeom prst="rect">
            <a:avLst/>
          </a:prstGeom>
          <a:noFill/>
          <a:ln/>
        </p:spPr>
        <p:txBody>
          <a:bodyPr wrap="square" lIns="0" tIns="0" rIns="0" bIns="0" rtlCol="0" anchor="ctr"/>
          <a:lstStyle/>
          <a:p>
            <a:pPr marL="0" indent="0">
              <a:buNone/>
            </a:pPr>
            <a:r>
              <a:rPr lang="en-US" sz="1450" dirty="0">
                <a:solidFill>
                  <a:srgbClr val="111111"/>
                </a:solidFill>
                <a:latin typeface="Calibri" pitchFamily="34" charset="0"/>
                <a:ea typeface="Calibri" pitchFamily="34" charset="-122"/>
                <a:cs typeface="Calibri" pitchFamily="34" charset="-120"/>
              </a:rPr>
              <a:t>Run a full internal evaluation suite and interpret the results</a:t>
            </a:r>
            <a:endParaRPr lang="en-US" sz="1450" dirty="0"/>
          </a:p>
        </p:txBody>
      </p:sp>
      <p:pic>
        <p:nvPicPr>
          <p:cNvPr id="22"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23" name="Text 20"/>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24" name="Text 21"/>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03</a:t>
            </a:r>
            <a:endParaRPr lang="en-US" sz="900" dirty="0"/>
          </a:p>
        </p:txBody>
      </p:sp>
      <p:pic>
        <p:nvPicPr>
          <p:cNvPr id="25" name="Google Shape;90;p1">
            <a:extLst>
              <a:ext uri="{FF2B5EF4-FFF2-40B4-BE49-F238E27FC236}">
                <a16:creationId xmlns:a16="http://schemas.microsoft.com/office/drawing/2014/main" id="{0F6D335C-84CF-408B-BAF9-EBCC20995254}"/>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F307F"/>
        </a:solidFill>
        <a:effectLst/>
      </p:bgPr>
    </p:bg>
    <p:spTree>
      <p:nvGrpSpPr>
        <p:cNvPr id="1" name=""/>
        <p:cNvGrpSpPr/>
        <p:nvPr/>
      </p:nvGrpSpPr>
      <p:grpSpPr>
        <a:xfrm>
          <a:off x="0" y="0"/>
          <a:ext cx="0" cy="0"/>
          <a:chOff x="0" y="0"/>
          <a:chExt cx="0" cy="0"/>
        </a:xfrm>
      </p:grpSpPr>
      <p:sp>
        <p:nvSpPr>
          <p:cNvPr id="2" name="Text 0"/>
          <p:cNvSpPr/>
          <p:nvPr/>
        </p:nvSpPr>
        <p:spPr>
          <a:xfrm>
            <a:off x="1280160" y="2286000"/>
            <a:ext cx="457200" cy="1371600"/>
          </a:xfrm>
          <a:prstGeom prst="rect">
            <a:avLst/>
          </a:prstGeom>
          <a:noFill/>
          <a:ln/>
        </p:spPr>
        <p:txBody>
          <a:bodyPr wrap="square" lIns="0" tIns="0" rIns="0" bIns="0" rtlCol="0" anchor="ctr"/>
          <a:lstStyle/>
          <a:p>
            <a:pPr marL="0" indent="0" algn="l">
              <a:buNone/>
            </a:pPr>
            <a:r>
              <a:rPr lang="en-US" sz="6600" b="1" dirty="0">
                <a:solidFill>
                  <a:srgbClr val="00C7FF"/>
                </a:solidFill>
                <a:latin typeface="Cambria" pitchFamily="34" charset="0"/>
                <a:ea typeface="Cambria" pitchFamily="34" charset="-122"/>
                <a:cs typeface="Cambria" pitchFamily="34" charset="-120"/>
              </a:rPr>
              <a:t>[</a:t>
            </a:r>
            <a:endParaRPr lang="en-US" sz="6600" dirty="0"/>
          </a:p>
        </p:txBody>
      </p:sp>
      <p:sp>
        <p:nvSpPr>
          <p:cNvPr id="3" name="Text 1"/>
          <p:cNvSpPr/>
          <p:nvPr/>
        </p:nvSpPr>
        <p:spPr>
          <a:xfrm>
            <a:off x="10451592" y="2286000"/>
            <a:ext cx="457200" cy="1371600"/>
          </a:xfrm>
          <a:prstGeom prst="rect">
            <a:avLst/>
          </a:prstGeom>
          <a:noFill/>
          <a:ln/>
        </p:spPr>
        <p:txBody>
          <a:bodyPr wrap="square" lIns="0" tIns="0" rIns="0" bIns="0" rtlCol="0" anchor="ctr"/>
          <a:lstStyle/>
          <a:p>
            <a:pPr marL="0" indent="0" algn="r">
              <a:buNone/>
            </a:pPr>
            <a:r>
              <a:rPr lang="en-US" sz="6600" b="1" dirty="0">
                <a:solidFill>
                  <a:srgbClr val="00C7FF"/>
                </a:solidFill>
                <a:latin typeface="Cambria" pitchFamily="34" charset="0"/>
                <a:ea typeface="Cambria" pitchFamily="34" charset="-122"/>
                <a:cs typeface="Cambria" pitchFamily="34" charset="-120"/>
              </a:rPr>
              <a:t>]</a:t>
            </a:r>
            <a:endParaRPr lang="en-US" sz="6600" dirty="0"/>
          </a:p>
        </p:txBody>
      </p:sp>
      <p:sp>
        <p:nvSpPr>
          <p:cNvPr id="4" name="Text 2"/>
          <p:cNvSpPr/>
          <p:nvPr/>
        </p:nvSpPr>
        <p:spPr>
          <a:xfrm>
            <a:off x="1280160" y="2423160"/>
            <a:ext cx="9628632" cy="457200"/>
          </a:xfrm>
          <a:prstGeom prst="rect">
            <a:avLst/>
          </a:prstGeom>
          <a:noFill/>
          <a:ln/>
        </p:spPr>
        <p:txBody>
          <a:bodyPr wrap="square" lIns="0" tIns="0" rIns="0" bIns="0" rtlCol="0" anchor="ctr"/>
          <a:lstStyle/>
          <a:p>
            <a:pPr marL="0" indent="0" algn="ctr">
              <a:buNone/>
            </a:pPr>
            <a:r>
              <a:rPr lang="en-US" sz="1500" b="1" kern="0" spc="300" dirty="0">
                <a:solidFill>
                  <a:srgbClr val="00C7FF"/>
                </a:solidFill>
                <a:latin typeface="Calibri" pitchFamily="34" charset="0"/>
                <a:ea typeface="Calibri" pitchFamily="34" charset="-122"/>
                <a:cs typeface="Calibri" pitchFamily="34" charset="-120"/>
              </a:rPr>
              <a:t>MODULE 0</a:t>
            </a:r>
            <a:endParaRPr lang="en-US" sz="1500" dirty="0"/>
          </a:p>
        </p:txBody>
      </p:sp>
      <p:sp>
        <p:nvSpPr>
          <p:cNvPr id="5" name="Text 3"/>
          <p:cNvSpPr/>
          <p:nvPr/>
        </p:nvSpPr>
        <p:spPr>
          <a:xfrm>
            <a:off x="1280160" y="2880360"/>
            <a:ext cx="9628632"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Recap &amp; Today's Goal</a:t>
            </a:r>
            <a:endParaRPr lang="en-US" sz="3800" dirty="0"/>
          </a:p>
        </p:txBody>
      </p:sp>
      <p:sp>
        <p:nvSpPr>
          <p:cNvPr id="6" name="Text 4"/>
          <p:cNvSpPr/>
          <p:nvPr/>
        </p:nvSpPr>
        <p:spPr>
          <a:xfrm>
            <a:off x="2194560" y="3931920"/>
            <a:ext cx="7799832" cy="548640"/>
          </a:xfrm>
          <a:prstGeom prst="rect">
            <a:avLst/>
          </a:prstGeom>
          <a:noFill/>
          <a:ln/>
        </p:spPr>
        <p:txBody>
          <a:bodyPr wrap="square" lIns="0" tIns="0" rIns="0" bIns="0" rtlCol="0" anchor="ctr"/>
          <a:lstStyle/>
          <a:p>
            <a:pPr marL="0" indent="0" algn="ctr">
              <a:buNone/>
            </a:pPr>
            <a:r>
              <a:rPr lang="en-US" sz="1400" dirty="0">
                <a:solidFill>
                  <a:srgbClr val="AFC6EF"/>
                </a:solidFill>
                <a:latin typeface="Calibri" pitchFamily="34" charset="0"/>
                <a:ea typeface="Calibri" pitchFamily="34" charset="-122"/>
                <a:cs typeface="Calibri" pitchFamily="34" charset="-120"/>
              </a:rPr>
              <a:t>From cited answers to measurably safe answers</a:t>
            </a:r>
            <a:endParaRPr lang="en-US" sz="1400" dirty="0"/>
          </a:p>
        </p:txBody>
      </p:sp>
      <p:pic>
        <p:nvPicPr>
          <p:cNvPr id="7" name="Image 0" descr="/home/claude/day4deck/logo_dark.jpg"/>
          <p:cNvPicPr>
            <a:picLocks noChangeAspect="1"/>
          </p:cNvPicPr>
          <p:nvPr/>
        </p:nvPicPr>
        <p:blipFill>
          <a:blip r:embed="rId3"/>
          <a:stretch>
            <a:fillRect/>
          </a:stretch>
        </p:blipFill>
        <p:spPr>
          <a:xfrm>
            <a:off x="457200" y="6291072"/>
            <a:ext cx="384048" cy="384048"/>
          </a:xfrm>
          <a:prstGeom prst="rect">
            <a:avLst/>
          </a:prstGeom>
        </p:spPr>
      </p:pic>
      <p:sp>
        <p:nvSpPr>
          <p:cNvPr id="8" name="Text 5"/>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AFC6EF"/>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9" name="Text 6"/>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AFC6EF"/>
                </a:solidFill>
                <a:latin typeface="Calibri" pitchFamily="34" charset="0"/>
                <a:ea typeface="Calibri" pitchFamily="34" charset="-122"/>
                <a:cs typeface="Calibri" pitchFamily="34" charset="-120"/>
              </a:rPr>
              <a:t>04</a:t>
            </a:r>
            <a:endParaRPr lang="en-US" sz="900" dirty="0"/>
          </a:p>
        </p:txBody>
      </p:sp>
      <p:pic>
        <p:nvPicPr>
          <p:cNvPr id="10" name="Google Shape;90;p1">
            <a:extLst>
              <a:ext uri="{FF2B5EF4-FFF2-40B4-BE49-F238E27FC236}">
                <a16:creationId xmlns:a16="http://schemas.microsoft.com/office/drawing/2014/main" id="{077B8672-675E-4E95-BB3A-AE64BB1C0274}"/>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0 — RECAP</a:t>
            </a:r>
            <a:endParaRPr lang="en-US" sz="1200" dirty="0"/>
          </a:p>
        </p:txBody>
      </p:sp>
      <p:sp>
        <p:nvSpPr>
          <p:cNvPr id="3" name="Text 1"/>
          <p:cNvSpPr/>
          <p:nvPr/>
        </p:nvSpPr>
        <p:spPr>
          <a:xfrm>
            <a:off x="548640" y="868680"/>
            <a:ext cx="91440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What You Walked In With</a:t>
            </a:r>
            <a:endParaRPr lang="en-US" sz="3200" dirty="0"/>
          </a:p>
        </p:txBody>
      </p:sp>
      <p:sp>
        <p:nvSpPr>
          <p:cNvPr id="4" name="Shape 2"/>
          <p:cNvSpPr/>
          <p:nvPr/>
        </p:nvSpPr>
        <p:spPr>
          <a:xfrm>
            <a:off x="548640" y="1920240"/>
            <a:ext cx="3520440" cy="1828800"/>
          </a:xfrm>
          <a:prstGeom prst="roundRect">
            <a:avLst>
              <a:gd name="adj" fmla="val 4000"/>
            </a:avLst>
          </a:prstGeom>
          <a:solidFill>
            <a:srgbClr val="F1F5FC"/>
          </a:solidFill>
          <a:ln w="12700">
            <a:solidFill>
              <a:srgbClr val="DCE6F7"/>
            </a:solidFill>
            <a:prstDash val="solid"/>
          </a:ln>
        </p:spPr>
      </p:sp>
      <p:sp>
        <p:nvSpPr>
          <p:cNvPr id="5" name="Text 3"/>
          <p:cNvSpPr/>
          <p:nvPr/>
        </p:nvSpPr>
        <p:spPr>
          <a:xfrm>
            <a:off x="822960" y="2148840"/>
            <a:ext cx="2971800" cy="457200"/>
          </a:xfrm>
          <a:prstGeom prst="rect">
            <a:avLst/>
          </a:prstGeom>
          <a:noFill/>
          <a:ln/>
        </p:spPr>
        <p:txBody>
          <a:bodyPr wrap="square" lIns="0" tIns="0" rIns="0" bIns="0" rtlCol="0" anchor="ctr"/>
          <a:lstStyle/>
          <a:p>
            <a:pPr marL="0" indent="0">
              <a:buNone/>
            </a:pPr>
            <a:r>
              <a:rPr lang="en-US" sz="1700" b="1" dirty="0">
                <a:solidFill>
                  <a:srgbClr val="0F307F"/>
                </a:solidFill>
                <a:latin typeface="Cambria" pitchFamily="34" charset="0"/>
                <a:ea typeface="Cambria" pitchFamily="34" charset="-122"/>
                <a:cs typeface="Cambria" pitchFamily="34" charset="-120"/>
              </a:rPr>
              <a:t>A grounded prompt</a:t>
            </a:r>
            <a:endParaRPr lang="en-US" sz="1700" dirty="0"/>
          </a:p>
        </p:txBody>
      </p:sp>
      <p:sp>
        <p:nvSpPr>
          <p:cNvPr id="6" name="Text 4"/>
          <p:cNvSpPr/>
          <p:nvPr/>
        </p:nvSpPr>
        <p:spPr>
          <a:xfrm>
            <a:off x="822960" y="2697480"/>
            <a:ext cx="2971800" cy="914400"/>
          </a:xfrm>
          <a:prstGeom prst="rect">
            <a:avLst/>
          </a:prstGeom>
          <a:noFill/>
          <a:ln/>
        </p:spPr>
        <p:txBody>
          <a:bodyPr wrap="square" lIns="0" tIns="0" rIns="0" bIns="0" rtlCol="0" anchor="t"/>
          <a:lstStyle/>
          <a:p>
            <a:pPr marL="0" indent="0">
              <a:buNone/>
            </a:pPr>
            <a:r>
              <a:rPr lang="en-US" sz="1250" dirty="0">
                <a:solidFill>
                  <a:srgbClr val="5A6472"/>
                </a:solidFill>
                <a:latin typeface="Calibri" pitchFamily="34" charset="0"/>
                <a:ea typeface="Calibri" pitchFamily="34" charset="-122"/>
                <a:cs typeface="Calibri" pitchFamily="34" charset="-120"/>
              </a:rPr>
              <a:t>Stress-tested against adversarial questions</a:t>
            </a:r>
            <a:endParaRPr lang="en-US" sz="1250" dirty="0"/>
          </a:p>
        </p:txBody>
      </p:sp>
      <p:sp>
        <p:nvSpPr>
          <p:cNvPr id="7" name="Shape 5"/>
          <p:cNvSpPr/>
          <p:nvPr/>
        </p:nvSpPr>
        <p:spPr>
          <a:xfrm>
            <a:off x="4343400" y="1920240"/>
            <a:ext cx="3520440" cy="1828800"/>
          </a:xfrm>
          <a:prstGeom prst="roundRect">
            <a:avLst>
              <a:gd name="adj" fmla="val 4000"/>
            </a:avLst>
          </a:prstGeom>
          <a:solidFill>
            <a:srgbClr val="F1F5FC"/>
          </a:solidFill>
          <a:ln w="12700">
            <a:solidFill>
              <a:srgbClr val="DCE6F7"/>
            </a:solidFill>
            <a:prstDash val="solid"/>
          </a:ln>
        </p:spPr>
      </p:sp>
      <p:sp>
        <p:nvSpPr>
          <p:cNvPr id="8" name="Text 6"/>
          <p:cNvSpPr/>
          <p:nvPr/>
        </p:nvSpPr>
        <p:spPr>
          <a:xfrm>
            <a:off x="4617720" y="2148840"/>
            <a:ext cx="2971800" cy="457200"/>
          </a:xfrm>
          <a:prstGeom prst="rect">
            <a:avLst/>
          </a:prstGeom>
          <a:noFill/>
          <a:ln/>
        </p:spPr>
        <p:txBody>
          <a:bodyPr wrap="square" lIns="0" tIns="0" rIns="0" bIns="0" rtlCol="0" anchor="ctr"/>
          <a:lstStyle/>
          <a:p>
            <a:pPr marL="0" indent="0">
              <a:buNone/>
            </a:pPr>
            <a:r>
              <a:rPr lang="en-US" sz="1700" b="1" dirty="0">
                <a:solidFill>
                  <a:srgbClr val="0F307F"/>
                </a:solidFill>
                <a:latin typeface="Cambria" pitchFamily="34" charset="0"/>
                <a:ea typeface="Cambria" pitchFamily="34" charset="-122"/>
                <a:cs typeface="Cambria" pitchFamily="34" charset="-120"/>
              </a:rPr>
              <a:t>A cited answer format</a:t>
            </a:r>
            <a:endParaRPr lang="en-US" sz="1700" dirty="0"/>
          </a:p>
        </p:txBody>
      </p:sp>
      <p:sp>
        <p:nvSpPr>
          <p:cNvPr id="9" name="Text 7"/>
          <p:cNvSpPr/>
          <p:nvPr/>
        </p:nvSpPr>
        <p:spPr>
          <a:xfrm>
            <a:off x="4617720" y="2697480"/>
            <a:ext cx="2971800" cy="914400"/>
          </a:xfrm>
          <a:prstGeom prst="rect">
            <a:avLst/>
          </a:prstGeom>
          <a:noFill/>
          <a:ln/>
        </p:spPr>
        <p:txBody>
          <a:bodyPr wrap="square" lIns="0" tIns="0" rIns="0" bIns="0" rtlCol="0" anchor="t"/>
          <a:lstStyle/>
          <a:p>
            <a:pPr marL="0" indent="0">
              <a:buNone/>
            </a:pPr>
            <a:r>
              <a:rPr lang="en-US" sz="1250" dirty="0">
                <a:solidFill>
                  <a:srgbClr val="5A6472"/>
                </a:solidFill>
                <a:latin typeface="Calibri" pitchFamily="34" charset="0"/>
                <a:ea typeface="Calibri" pitchFamily="34" charset="-122"/>
                <a:cs typeface="Calibri" pitchFamily="34" charset="-120"/>
              </a:rPr>
              <a:t>Recommendation, excerpt, and citation every time</a:t>
            </a:r>
            <a:endParaRPr lang="en-US" sz="1250" dirty="0"/>
          </a:p>
        </p:txBody>
      </p:sp>
      <p:sp>
        <p:nvSpPr>
          <p:cNvPr id="10" name="Shape 8"/>
          <p:cNvSpPr/>
          <p:nvPr/>
        </p:nvSpPr>
        <p:spPr>
          <a:xfrm>
            <a:off x="8138160" y="1920240"/>
            <a:ext cx="3520440" cy="1828800"/>
          </a:xfrm>
          <a:prstGeom prst="roundRect">
            <a:avLst>
              <a:gd name="adj" fmla="val 4000"/>
            </a:avLst>
          </a:prstGeom>
          <a:solidFill>
            <a:srgbClr val="F1F5FC"/>
          </a:solidFill>
          <a:ln w="12700">
            <a:solidFill>
              <a:srgbClr val="DCE6F7"/>
            </a:solidFill>
            <a:prstDash val="solid"/>
          </a:ln>
        </p:spPr>
      </p:sp>
      <p:sp>
        <p:nvSpPr>
          <p:cNvPr id="11" name="Text 9"/>
          <p:cNvSpPr/>
          <p:nvPr/>
        </p:nvSpPr>
        <p:spPr>
          <a:xfrm>
            <a:off x="8412480" y="2148840"/>
            <a:ext cx="2971800" cy="457200"/>
          </a:xfrm>
          <a:prstGeom prst="rect">
            <a:avLst/>
          </a:prstGeom>
          <a:noFill/>
          <a:ln/>
        </p:spPr>
        <p:txBody>
          <a:bodyPr wrap="square" lIns="0" tIns="0" rIns="0" bIns="0" rtlCol="0" anchor="ctr"/>
          <a:lstStyle/>
          <a:p>
            <a:pPr marL="0" indent="0">
              <a:buNone/>
            </a:pPr>
            <a:r>
              <a:rPr lang="en-US" sz="1700" b="1" dirty="0">
                <a:solidFill>
                  <a:srgbClr val="0F307F"/>
                </a:solidFill>
                <a:latin typeface="Cambria" pitchFamily="34" charset="0"/>
                <a:ea typeface="Cambria" pitchFamily="34" charset="-122"/>
                <a:cs typeface="Cambria" pitchFamily="34" charset="-120"/>
              </a:rPr>
              <a:t>A working refusal case</a:t>
            </a:r>
            <a:endParaRPr lang="en-US" sz="1700" dirty="0"/>
          </a:p>
        </p:txBody>
      </p:sp>
      <p:sp>
        <p:nvSpPr>
          <p:cNvPr id="12" name="Text 10"/>
          <p:cNvSpPr/>
          <p:nvPr/>
        </p:nvSpPr>
        <p:spPr>
          <a:xfrm>
            <a:off x="8412480" y="2697480"/>
            <a:ext cx="2971800" cy="914400"/>
          </a:xfrm>
          <a:prstGeom prst="rect">
            <a:avLst/>
          </a:prstGeom>
          <a:noFill/>
          <a:ln/>
        </p:spPr>
        <p:txBody>
          <a:bodyPr wrap="square" lIns="0" tIns="0" rIns="0" bIns="0" rtlCol="0" anchor="t"/>
          <a:lstStyle/>
          <a:p>
            <a:pPr marL="0" indent="0">
              <a:buNone/>
            </a:pPr>
            <a:r>
              <a:rPr lang="en-US" sz="1250" dirty="0">
                <a:solidFill>
                  <a:srgbClr val="5A6472"/>
                </a:solidFill>
                <a:latin typeface="Calibri" pitchFamily="34" charset="0"/>
                <a:ea typeface="Calibri" pitchFamily="34" charset="-122"/>
                <a:cs typeface="Calibri" pitchFamily="34" charset="-120"/>
              </a:rPr>
              <a:t>Rehearsed and ready for the Day 5 demo</a:t>
            </a:r>
            <a:endParaRPr lang="en-US" sz="1250" dirty="0"/>
          </a:p>
        </p:txBody>
      </p:sp>
      <p:sp>
        <p:nvSpPr>
          <p:cNvPr id="13" name="Shape 11"/>
          <p:cNvSpPr/>
          <p:nvPr/>
        </p:nvSpPr>
        <p:spPr>
          <a:xfrm>
            <a:off x="548640" y="4160520"/>
            <a:ext cx="10881360" cy="1188720"/>
          </a:xfrm>
          <a:prstGeom prst="roundRect">
            <a:avLst>
              <a:gd name="adj" fmla="val 6154"/>
            </a:avLst>
          </a:prstGeom>
          <a:solidFill>
            <a:srgbClr val="0F307F"/>
          </a:solidFill>
          <a:ln/>
        </p:spPr>
      </p:sp>
      <p:sp>
        <p:nvSpPr>
          <p:cNvPr id="14" name="Text 12"/>
          <p:cNvSpPr/>
          <p:nvPr/>
        </p:nvSpPr>
        <p:spPr>
          <a:xfrm>
            <a:off x="914400" y="4160520"/>
            <a:ext cx="10149840" cy="11887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What's missing: proof, in numbers, that it's safe to trust.</a:t>
            </a:r>
            <a:endParaRPr lang="en-US" sz="1800" dirty="0"/>
          </a:p>
        </p:txBody>
      </p:sp>
      <p:pic>
        <p:nvPicPr>
          <p:cNvPr id="15"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16" name="Text 13"/>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17" name="Text 14"/>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05</a:t>
            </a:r>
            <a:endParaRPr lang="en-US" sz="900" dirty="0"/>
          </a:p>
        </p:txBody>
      </p:sp>
      <p:pic>
        <p:nvPicPr>
          <p:cNvPr id="18" name="Google Shape;90;p1">
            <a:extLst>
              <a:ext uri="{FF2B5EF4-FFF2-40B4-BE49-F238E27FC236}">
                <a16:creationId xmlns:a16="http://schemas.microsoft.com/office/drawing/2014/main" id="{32A081E4-F1B1-4130-A344-CB15A38E169D}"/>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0 — THE GOAL</a:t>
            </a:r>
            <a:endParaRPr lang="en-US" sz="1200" dirty="0"/>
          </a:p>
        </p:txBody>
      </p:sp>
      <p:sp>
        <p:nvSpPr>
          <p:cNvPr id="3" name="Text 1"/>
          <p:cNvSpPr/>
          <p:nvPr/>
        </p:nvSpPr>
        <p:spPr>
          <a:xfrm>
            <a:off x="548640" y="868680"/>
            <a:ext cx="10332720" cy="82296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Confident Isn't the Same as Correct</a:t>
            </a:r>
            <a:endParaRPr lang="en-US" sz="3000" dirty="0"/>
          </a:p>
        </p:txBody>
      </p:sp>
      <p:sp>
        <p:nvSpPr>
          <p:cNvPr id="4" name="Text 2"/>
          <p:cNvSpPr/>
          <p:nvPr/>
        </p:nvSpPr>
        <p:spPr>
          <a:xfrm>
            <a:off x="548640" y="1783080"/>
            <a:ext cx="10241280" cy="822960"/>
          </a:xfrm>
          <a:prstGeom prst="rect">
            <a:avLst/>
          </a:prstGeom>
          <a:noFill/>
          <a:ln/>
        </p:spPr>
        <p:txBody>
          <a:bodyPr wrap="square" lIns="0" tIns="0" rIns="0" bIns="0" rtlCol="0" anchor="ctr"/>
          <a:lstStyle/>
          <a:p>
            <a:pPr marL="0" indent="0">
              <a:buNone/>
            </a:pPr>
            <a:r>
              <a:rPr lang="en-US" sz="1550" dirty="0">
                <a:solidFill>
                  <a:srgbClr val="2A2A2A"/>
                </a:solidFill>
                <a:latin typeface="Calibri" pitchFamily="34" charset="0"/>
                <a:ea typeface="Calibri" pitchFamily="34" charset="-122"/>
                <a:cs typeface="Calibri" pitchFamily="34" charset="-120"/>
              </a:rPr>
              <a:t>A system that always sounds sure of itself is more dangerous than one that says “I'm not certain.” Today you build the guardrails and the numbers that prove your system knows the difference.</a:t>
            </a:r>
            <a:endParaRPr lang="en-US" sz="1550" dirty="0"/>
          </a:p>
        </p:txBody>
      </p:sp>
      <p:sp>
        <p:nvSpPr>
          <p:cNvPr id="5" name="Shape 3"/>
          <p:cNvSpPr/>
          <p:nvPr/>
        </p:nvSpPr>
        <p:spPr>
          <a:xfrm>
            <a:off x="548640" y="3108960"/>
            <a:ext cx="2514600" cy="1737360"/>
          </a:xfrm>
          <a:prstGeom prst="roundRect">
            <a:avLst>
              <a:gd name="adj" fmla="val 4211"/>
            </a:avLst>
          </a:prstGeom>
          <a:solidFill>
            <a:srgbClr val="0F307F"/>
          </a:solidFill>
          <a:ln/>
        </p:spPr>
      </p:sp>
      <p:sp>
        <p:nvSpPr>
          <p:cNvPr id="6" name="Text 4"/>
          <p:cNvSpPr/>
          <p:nvPr/>
        </p:nvSpPr>
        <p:spPr>
          <a:xfrm>
            <a:off x="731520" y="3291840"/>
            <a:ext cx="2148840" cy="365760"/>
          </a:xfrm>
          <a:prstGeom prst="rect">
            <a:avLst/>
          </a:prstGeom>
          <a:noFill/>
          <a:ln/>
        </p:spPr>
        <p:txBody>
          <a:bodyPr wrap="square" lIns="0" tIns="0" rIns="0" bIns="0" rtlCol="0" anchor="ctr"/>
          <a:lstStyle/>
          <a:p>
            <a:pPr marL="0" indent="0">
              <a:buNone/>
            </a:pPr>
            <a:r>
              <a:rPr lang="en-US" sz="1600" b="1" dirty="0">
                <a:solidFill>
                  <a:srgbClr val="00C7FF"/>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731520" y="3703320"/>
            <a:ext cx="2148840" cy="10058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Confidence</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Thresholds</a:t>
            </a:r>
            <a:endParaRPr lang="en-US" sz="1300" dirty="0"/>
          </a:p>
        </p:txBody>
      </p:sp>
      <p:sp>
        <p:nvSpPr>
          <p:cNvPr id="8" name="Text 6"/>
          <p:cNvSpPr/>
          <p:nvPr/>
        </p:nvSpPr>
        <p:spPr>
          <a:xfrm>
            <a:off x="3063240" y="3749040"/>
            <a:ext cx="228600" cy="457200"/>
          </a:xfrm>
          <a:prstGeom prst="rect">
            <a:avLst/>
          </a:prstGeom>
          <a:noFill/>
          <a:ln/>
        </p:spPr>
        <p:txBody>
          <a:bodyPr wrap="square" lIns="0" tIns="0" rIns="0" bIns="0" rtlCol="0" anchor="ctr"/>
          <a:lstStyle/>
          <a:p>
            <a:pPr marL="0" indent="0" algn="ctr">
              <a:buNone/>
            </a:pPr>
            <a:r>
              <a:rPr lang="en-US" sz="1800" b="1" dirty="0">
                <a:solidFill>
                  <a:srgbClr val="0F307F"/>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337560" y="3108960"/>
            <a:ext cx="2514600" cy="1737360"/>
          </a:xfrm>
          <a:prstGeom prst="roundRect">
            <a:avLst>
              <a:gd name="adj" fmla="val 4211"/>
            </a:avLst>
          </a:prstGeom>
          <a:solidFill>
            <a:srgbClr val="163B95"/>
          </a:solidFill>
          <a:ln/>
        </p:spPr>
      </p:sp>
      <p:sp>
        <p:nvSpPr>
          <p:cNvPr id="10" name="Text 8"/>
          <p:cNvSpPr/>
          <p:nvPr/>
        </p:nvSpPr>
        <p:spPr>
          <a:xfrm>
            <a:off x="3520440" y="3291840"/>
            <a:ext cx="2148840" cy="365760"/>
          </a:xfrm>
          <a:prstGeom prst="rect">
            <a:avLst/>
          </a:prstGeom>
          <a:noFill/>
          <a:ln/>
        </p:spPr>
        <p:txBody>
          <a:bodyPr wrap="square" lIns="0" tIns="0" rIns="0" bIns="0" rtlCol="0" anchor="ctr"/>
          <a:lstStyle/>
          <a:p>
            <a:pPr marL="0" indent="0">
              <a:buNone/>
            </a:pPr>
            <a:r>
              <a:rPr lang="en-US" sz="1600" b="1" dirty="0">
                <a:solidFill>
                  <a:srgbClr val="00C7FF"/>
                </a:solidFill>
                <a:latin typeface="Cambria" pitchFamily="34" charset="0"/>
                <a:ea typeface="Cambria" pitchFamily="34" charset="-122"/>
                <a:cs typeface="Cambria" pitchFamily="34" charset="-120"/>
              </a:rPr>
              <a:t>02</a:t>
            </a:r>
            <a:endParaRPr lang="en-US" sz="1600" dirty="0"/>
          </a:p>
        </p:txBody>
      </p:sp>
      <p:sp>
        <p:nvSpPr>
          <p:cNvPr id="11" name="Text 9"/>
          <p:cNvSpPr/>
          <p:nvPr/>
        </p:nvSpPr>
        <p:spPr>
          <a:xfrm>
            <a:off x="3520440" y="3703320"/>
            <a:ext cx="2148840" cy="10058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Metrics</a:t>
            </a:r>
            <a:endParaRPr lang="en-US" sz="1300" dirty="0"/>
          </a:p>
        </p:txBody>
      </p:sp>
      <p:sp>
        <p:nvSpPr>
          <p:cNvPr id="12" name="Text 10"/>
          <p:cNvSpPr/>
          <p:nvPr/>
        </p:nvSpPr>
        <p:spPr>
          <a:xfrm>
            <a:off x="5852160" y="3749040"/>
            <a:ext cx="228600" cy="457200"/>
          </a:xfrm>
          <a:prstGeom prst="rect">
            <a:avLst/>
          </a:prstGeom>
          <a:noFill/>
          <a:ln/>
        </p:spPr>
        <p:txBody>
          <a:bodyPr wrap="square" lIns="0" tIns="0" rIns="0" bIns="0" rtlCol="0" anchor="ctr"/>
          <a:lstStyle/>
          <a:p>
            <a:pPr marL="0" indent="0" algn="ctr">
              <a:buNone/>
            </a:pPr>
            <a:r>
              <a:rPr lang="en-US" sz="1800" b="1" dirty="0">
                <a:solidFill>
                  <a:srgbClr val="0F307F"/>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6126480" y="3108960"/>
            <a:ext cx="2514600" cy="1737360"/>
          </a:xfrm>
          <a:prstGeom prst="roundRect">
            <a:avLst>
              <a:gd name="adj" fmla="val 4211"/>
            </a:avLst>
          </a:prstGeom>
          <a:solidFill>
            <a:srgbClr val="0F307F"/>
          </a:solidFill>
          <a:ln/>
        </p:spPr>
      </p:sp>
      <p:sp>
        <p:nvSpPr>
          <p:cNvPr id="14" name="Text 12"/>
          <p:cNvSpPr/>
          <p:nvPr/>
        </p:nvSpPr>
        <p:spPr>
          <a:xfrm>
            <a:off x="6309360" y="3291840"/>
            <a:ext cx="2148840" cy="365760"/>
          </a:xfrm>
          <a:prstGeom prst="rect">
            <a:avLst/>
          </a:prstGeom>
          <a:noFill/>
          <a:ln/>
        </p:spPr>
        <p:txBody>
          <a:bodyPr wrap="square" lIns="0" tIns="0" rIns="0" bIns="0" rtlCol="0" anchor="ctr"/>
          <a:lstStyle/>
          <a:p>
            <a:pPr marL="0" indent="0">
              <a:buNone/>
            </a:pPr>
            <a:r>
              <a:rPr lang="en-US" sz="1600" b="1" dirty="0">
                <a:solidFill>
                  <a:srgbClr val="00C7FF"/>
                </a:solidFill>
                <a:latin typeface="Cambria" pitchFamily="34" charset="0"/>
                <a:ea typeface="Cambria" pitchFamily="34" charset="-122"/>
                <a:cs typeface="Cambria" pitchFamily="34" charset="-120"/>
              </a:rPr>
              <a:t>03</a:t>
            </a:r>
            <a:endParaRPr lang="en-US" sz="1600" dirty="0"/>
          </a:p>
        </p:txBody>
      </p:sp>
      <p:sp>
        <p:nvSpPr>
          <p:cNvPr id="15" name="Text 13"/>
          <p:cNvSpPr/>
          <p:nvPr/>
        </p:nvSpPr>
        <p:spPr>
          <a:xfrm>
            <a:off x="6309360" y="3703320"/>
            <a:ext cx="2148840" cy="10058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Responsible AI</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&amp; Safety</a:t>
            </a:r>
            <a:endParaRPr lang="en-US" sz="1300" dirty="0"/>
          </a:p>
        </p:txBody>
      </p:sp>
      <p:sp>
        <p:nvSpPr>
          <p:cNvPr id="16" name="Text 14"/>
          <p:cNvSpPr/>
          <p:nvPr/>
        </p:nvSpPr>
        <p:spPr>
          <a:xfrm>
            <a:off x="8641080" y="3749040"/>
            <a:ext cx="228600" cy="457200"/>
          </a:xfrm>
          <a:prstGeom prst="rect">
            <a:avLst/>
          </a:prstGeom>
          <a:noFill/>
          <a:ln/>
        </p:spPr>
        <p:txBody>
          <a:bodyPr wrap="square" lIns="0" tIns="0" rIns="0" bIns="0" rtlCol="0" anchor="ctr"/>
          <a:lstStyle/>
          <a:p>
            <a:pPr marL="0" indent="0" algn="ctr">
              <a:buNone/>
            </a:pPr>
            <a:r>
              <a:rPr lang="en-US" sz="1800" b="1" dirty="0">
                <a:solidFill>
                  <a:srgbClr val="0F307F"/>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8915400" y="3108960"/>
            <a:ext cx="2514600" cy="1737360"/>
          </a:xfrm>
          <a:prstGeom prst="roundRect">
            <a:avLst>
              <a:gd name="adj" fmla="val 4211"/>
            </a:avLst>
          </a:prstGeom>
          <a:solidFill>
            <a:srgbClr val="163B95"/>
          </a:solidFill>
          <a:ln/>
        </p:spPr>
      </p:sp>
      <p:sp>
        <p:nvSpPr>
          <p:cNvPr id="18" name="Text 16"/>
          <p:cNvSpPr/>
          <p:nvPr/>
        </p:nvSpPr>
        <p:spPr>
          <a:xfrm>
            <a:off x="9098280" y="3291840"/>
            <a:ext cx="2148840" cy="365760"/>
          </a:xfrm>
          <a:prstGeom prst="rect">
            <a:avLst/>
          </a:prstGeom>
          <a:noFill/>
          <a:ln/>
        </p:spPr>
        <p:txBody>
          <a:bodyPr wrap="square" lIns="0" tIns="0" rIns="0" bIns="0" rtlCol="0" anchor="ctr"/>
          <a:lstStyle/>
          <a:p>
            <a:pPr marL="0" indent="0">
              <a:buNone/>
            </a:pPr>
            <a:r>
              <a:rPr lang="en-US" sz="1600" b="1" dirty="0">
                <a:solidFill>
                  <a:srgbClr val="00C7FF"/>
                </a:solidFill>
                <a:latin typeface="Cambria" pitchFamily="34" charset="0"/>
                <a:ea typeface="Cambria" pitchFamily="34" charset="-122"/>
                <a:cs typeface="Cambria" pitchFamily="34" charset="-120"/>
              </a:rPr>
              <a:t>04</a:t>
            </a:r>
            <a:endParaRPr lang="en-US" sz="1600" dirty="0"/>
          </a:p>
        </p:txBody>
      </p:sp>
      <p:sp>
        <p:nvSpPr>
          <p:cNvPr id="19" name="Text 17"/>
          <p:cNvSpPr/>
          <p:nvPr/>
        </p:nvSpPr>
        <p:spPr>
          <a:xfrm>
            <a:off x="9098280" y="3703320"/>
            <a:ext cx="2148840" cy="10058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Run the Full</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Eval Suite</a:t>
            </a:r>
            <a:endParaRPr lang="en-US" sz="1300" dirty="0"/>
          </a:p>
        </p:txBody>
      </p:sp>
      <p:pic>
        <p:nvPicPr>
          <p:cNvPr id="20"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21" name="Text 18"/>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22" name="Text 19"/>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06</a:t>
            </a:r>
            <a:endParaRPr lang="en-US" sz="900" dirty="0"/>
          </a:p>
        </p:txBody>
      </p:sp>
      <p:pic>
        <p:nvPicPr>
          <p:cNvPr id="23" name="Google Shape;90;p1">
            <a:extLst>
              <a:ext uri="{FF2B5EF4-FFF2-40B4-BE49-F238E27FC236}">
                <a16:creationId xmlns:a16="http://schemas.microsoft.com/office/drawing/2014/main" id="{041AC658-F51B-4035-9CF3-A443D0B28225}"/>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F307F"/>
        </a:solidFill>
        <a:effectLst/>
      </p:bgPr>
    </p:bg>
    <p:spTree>
      <p:nvGrpSpPr>
        <p:cNvPr id="1" name=""/>
        <p:cNvGrpSpPr/>
        <p:nvPr/>
      </p:nvGrpSpPr>
      <p:grpSpPr>
        <a:xfrm>
          <a:off x="0" y="0"/>
          <a:ext cx="0" cy="0"/>
          <a:chOff x="0" y="0"/>
          <a:chExt cx="0" cy="0"/>
        </a:xfrm>
      </p:grpSpPr>
      <p:sp>
        <p:nvSpPr>
          <p:cNvPr id="2" name="Text 0"/>
          <p:cNvSpPr/>
          <p:nvPr/>
        </p:nvSpPr>
        <p:spPr>
          <a:xfrm>
            <a:off x="1280160" y="2286000"/>
            <a:ext cx="457200" cy="1371600"/>
          </a:xfrm>
          <a:prstGeom prst="rect">
            <a:avLst/>
          </a:prstGeom>
          <a:noFill/>
          <a:ln/>
        </p:spPr>
        <p:txBody>
          <a:bodyPr wrap="square" lIns="0" tIns="0" rIns="0" bIns="0" rtlCol="0" anchor="ctr"/>
          <a:lstStyle/>
          <a:p>
            <a:pPr marL="0" indent="0" algn="l">
              <a:buNone/>
            </a:pPr>
            <a:r>
              <a:rPr lang="en-US" sz="6600" b="1" dirty="0">
                <a:solidFill>
                  <a:srgbClr val="00C7FF"/>
                </a:solidFill>
                <a:latin typeface="Cambria" pitchFamily="34" charset="0"/>
                <a:ea typeface="Cambria" pitchFamily="34" charset="-122"/>
                <a:cs typeface="Cambria" pitchFamily="34" charset="-120"/>
              </a:rPr>
              <a:t>[</a:t>
            </a:r>
            <a:endParaRPr lang="en-US" sz="6600" dirty="0"/>
          </a:p>
        </p:txBody>
      </p:sp>
      <p:sp>
        <p:nvSpPr>
          <p:cNvPr id="3" name="Text 1"/>
          <p:cNvSpPr/>
          <p:nvPr/>
        </p:nvSpPr>
        <p:spPr>
          <a:xfrm>
            <a:off x="10451592" y="2286000"/>
            <a:ext cx="457200" cy="1371600"/>
          </a:xfrm>
          <a:prstGeom prst="rect">
            <a:avLst/>
          </a:prstGeom>
          <a:noFill/>
          <a:ln/>
        </p:spPr>
        <p:txBody>
          <a:bodyPr wrap="square" lIns="0" tIns="0" rIns="0" bIns="0" rtlCol="0" anchor="ctr"/>
          <a:lstStyle/>
          <a:p>
            <a:pPr marL="0" indent="0" algn="r">
              <a:buNone/>
            </a:pPr>
            <a:r>
              <a:rPr lang="en-US" sz="6600" b="1" dirty="0">
                <a:solidFill>
                  <a:srgbClr val="00C7FF"/>
                </a:solidFill>
                <a:latin typeface="Cambria" pitchFamily="34" charset="0"/>
                <a:ea typeface="Cambria" pitchFamily="34" charset="-122"/>
                <a:cs typeface="Cambria" pitchFamily="34" charset="-120"/>
              </a:rPr>
              <a:t>]</a:t>
            </a:r>
            <a:endParaRPr lang="en-US" sz="6600" dirty="0"/>
          </a:p>
        </p:txBody>
      </p:sp>
      <p:sp>
        <p:nvSpPr>
          <p:cNvPr id="4" name="Text 2"/>
          <p:cNvSpPr/>
          <p:nvPr/>
        </p:nvSpPr>
        <p:spPr>
          <a:xfrm>
            <a:off x="1280160" y="2423160"/>
            <a:ext cx="9628632" cy="457200"/>
          </a:xfrm>
          <a:prstGeom prst="rect">
            <a:avLst/>
          </a:prstGeom>
          <a:noFill/>
          <a:ln/>
        </p:spPr>
        <p:txBody>
          <a:bodyPr wrap="square" lIns="0" tIns="0" rIns="0" bIns="0" rtlCol="0" anchor="ctr"/>
          <a:lstStyle/>
          <a:p>
            <a:pPr marL="0" indent="0" algn="ctr">
              <a:buNone/>
            </a:pPr>
            <a:r>
              <a:rPr lang="en-US" sz="1500" b="1" kern="0" spc="300" dirty="0">
                <a:solidFill>
                  <a:srgbClr val="00C7FF"/>
                </a:solidFill>
                <a:latin typeface="Calibri" pitchFamily="34" charset="0"/>
                <a:ea typeface="Calibri" pitchFamily="34" charset="-122"/>
                <a:cs typeface="Calibri" pitchFamily="34" charset="-120"/>
              </a:rPr>
              <a:t>MODULE 1</a:t>
            </a:r>
            <a:endParaRPr lang="en-US" sz="1500" dirty="0"/>
          </a:p>
        </p:txBody>
      </p:sp>
      <p:sp>
        <p:nvSpPr>
          <p:cNvPr id="5" name="Text 3"/>
          <p:cNvSpPr/>
          <p:nvPr/>
        </p:nvSpPr>
        <p:spPr>
          <a:xfrm>
            <a:off x="1280160" y="2880360"/>
            <a:ext cx="9628632"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Confidence Thresholds &amp; Claim Detection</a:t>
            </a:r>
            <a:endParaRPr lang="en-US" sz="3800" dirty="0"/>
          </a:p>
        </p:txBody>
      </p:sp>
      <p:sp>
        <p:nvSpPr>
          <p:cNvPr id="6" name="Text 4"/>
          <p:cNvSpPr/>
          <p:nvPr/>
        </p:nvSpPr>
        <p:spPr>
          <a:xfrm>
            <a:off x="2194560" y="3931920"/>
            <a:ext cx="7799832" cy="548640"/>
          </a:xfrm>
          <a:prstGeom prst="rect">
            <a:avLst/>
          </a:prstGeom>
          <a:noFill/>
          <a:ln/>
        </p:spPr>
        <p:txBody>
          <a:bodyPr wrap="square" lIns="0" tIns="0" rIns="0" bIns="0" rtlCol="0" anchor="ctr"/>
          <a:lstStyle/>
          <a:p>
            <a:pPr marL="0" indent="0" algn="ctr">
              <a:buNone/>
            </a:pPr>
            <a:r>
              <a:rPr lang="en-US" sz="1400" dirty="0">
                <a:solidFill>
                  <a:srgbClr val="AFC6EF"/>
                </a:solidFill>
                <a:latin typeface="Calibri" pitchFamily="34" charset="0"/>
                <a:ea typeface="Calibri" pitchFamily="34" charset="-122"/>
                <a:cs typeface="Calibri" pitchFamily="34" charset="-120"/>
              </a:rPr>
              <a:t>Teaching your system to know what it doesn't know</a:t>
            </a:r>
            <a:endParaRPr lang="en-US" sz="1400" dirty="0"/>
          </a:p>
        </p:txBody>
      </p:sp>
      <p:pic>
        <p:nvPicPr>
          <p:cNvPr id="7" name="Image 0" descr="/home/claude/day4deck/logo_dark.jpg"/>
          <p:cNvPicPr>
            <a:picLocks noChangeAspect="1"/>
          </p:cNvPicPr>
          <p:nvPr/>
        </p:nvPicPr>
        <p:blipFill>
          <a:blip r:embed="rId3"/>
          <a:stretch>
            <a:fillRect/>
          </a:stretch>
        </p:blipFill>
        <p:spPr>
          <a:xfrm>
            <a:off x="457200" y="6291072"/>
            <a:ext cx="384048" cy="384048"/>
          </a:xfrm>
          <a:prstGeom prst="rect">
            <a:avLst/>
          </a:prstGeom>
        </p:spPr>
      </p:pic>
      <p:sp>
        <p:nvSpPr>
          <p:cNvPr id="8" name="Text 5"/>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AFC6EF"/>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9" name="Text 6"/>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AFC6EF"/>
                </a:solidFill>
                <a:latin typeface="Calibri" pitchFamily="34" charset="0"/>
                <a:ea typeface="Calibri" pitchFamily="34" charset="-122"/>
                <a:cs typeface="Calibri" pitchFamily="34" charset="-120"/>
              </a:rPr>
              <a:t>07</a:t>
            </a:r>
            <a:endParaRPr lang="en-US" sz="900" dirty="0"/>
          </a:p>
        </p:txBody>
      </p:sp>
      <p:pic>
        <p:nvPicPr>
          <p:cNvPr id="10" name="Google Shape;90;p1">
            <a:extLst>
              <a:ext uri="{FF2B5EF4-FFF2-40B4-BE49-F238E27FC236}">
                <a16:creationId xmlns:a16="http://schemas.microsoft.com/office/drawing/2014/main" id="{0D9D5ECF-26C5-4A5F-9A69-CBF068D7FC57}"/>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1 — THE CONCEPT</a:t>
            </a:r>
            <a:endParaRPr lang="en-US" sz="1200" dirty="0"/>
          </a:p>
        </p:txBody>
      </p:sp>
      <p:sp>
        <p:nvSpPr>
          <p:cNvPr id="3" name="Text 1"/>
          <p:cNvSpPr/>
          <p:nvPr/>
        </p:nvSpPr>
        <p:spPr>
          <a:xfrm>
            <a:off x="548640" y="868680"/>
            <a:ext cx="96012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A Gate Before Generation Happens</a:t>
            </a:r>
            <a:endParaRPr lang="en-US" sz="3200" dirty="0"/>
          </a:p>
        </p:txBody>
      </p:sp>
      <p:sp>
        <p:nvSpPr>
          <p:cNvPr id="4" name="Text 2"/>
          <p:cNvSpPr/>
          <p:nvPr/>
        </p:nvSpPr>
        <p:spPr>
          <a:xfrm>
            <a:off x="548640" y="1691640"/>
            <a:ext cx="5760720" cy="1828800"/>
          </a:xfrm>
          <a:prstGeom prst="rect">
            <a:avLst/>
          </a:prstGeom>
          <a:noFill/>
          <a:ln/>
        </p:spPr>
        <p:txBody>
          <a:bodyPr wrap="square" lIns="0" tIns="0" rIns="0" bIns="0" rtlCol="0" anchor="t"/>
          <a:lstStyle/>
          <a:p>
            <a:pPr marL="0" indent="0">
              <a:buNone/>
            </a:pPr>
            <a:r>
              <a:rPr lang="en-US" sz="1500" dirty="0">
                <a:solidFill>
                  <a:srgbClr val="2A2A2A"/>
                </a:solidFill>
                <a:latin typeface="Calibri" pitchFamily="34" charset="0"/>
                <a:ea typeface="Calibri" pitchFamily="34" charset="-122"/>
                <a:cs typeface="Calibri" pitchFamily="34" charset="-120"/>
              </a:rPr>
              <a:t>A confidence threshold is a minimum similarity score your retrieved chunks must clear before the model is allowed to generate an answer at all. Below the threshold, refusal takes over automatically.</a:t>
            </a:r>
            <a:endParaRPr lang="en-US" sz="1500" dirty="0"/>
          </a:p>
        </p:txBody>
      </p:sp>
      <p:sp>
        <p:nvSpPr>
          <p:cNvPr id="5" name="Text 3"/>
          <p:cNvSpPr/>
          <p:nvPr/>
        </p:nvSpPr>
        <p:spPr>
          <a:xfrm>
            <a:off x="548640" y="3657600"/>
            <a:ext cx="274320" cy="365760"/>
          </a:xfrm>
          <a:prstGeom prst="rect">
            <a:avLst/>
          </a:prstGeom>
          <a:noFill/>
          <a:ln/>
        </p:spPr>
        <p:txBody>
          <a:bodyPr wrap="square" lIns="0" tIns="0" rIns="0" bIns="0" rtlCol="0" anchor="ctr"/>
          <a:lstStyle/>
          <a:p>
            <a:pPr marL="0" indent="0">
              <a:buNone/>
            </a:pPr>
            <a:r>
              <a:rPr lang="en-US" sz="1400" b="1" dirty="0">
                <a:solidFill>
                  <a:srgbClr val="00C7FF"/>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868680" y="3657600"/>
            <a:ext cx="5486400" cy="365760"/>
          </a:xfrm>
          <a:prstGeom prst="rect">
            <a:avLst/>
          </a:prstGeom>
          <a:noFill/>
          <a:ln/>
        </p:spPr>
        <p:txBody>
          <a:bodyPr wrap="square" lIns="0" tIns="0" rIns="0" bIns="0" rtlCol="0" anchor="ctr"/>
          <a:lstStyle/>
          <a:p>
            <a:pPr marL="0" indent="0">
              <a:buNone/>
            </a:pPr>
            <a:r>
              <a:rPr lang="en-US" sz="1350" dirty="0">
                <a:solidFill>
                  <a:srgbClr val="2A2A2A"/>
                </a:solidFill>
                <a:latin typeface="Calibri" pitchFamily="34" charset="0"/>
                <a:ea typeface="Calibri" pitchFamily="34" charset="-122"/>
                <a:cs typeface="Calibri" pitchFamily="34" charset="-120"/>
              </a:rPr>
              <a:t>Retrieve top-k chunks</a:t>
            </a:r>
            <a:endParaRPr lang="en-US" sz="1350" dirty="0"/>
          </a:p>
        </p:txBody>
      </p:sp>
      <p:sp>
        <p:nvSpPr>
          <p:cNvPr id="7" name="Text 5"/>
          <p:cNvSpPr/>
          <p:nvPr/>
        </p:nvSpPr>
        <p:spPr>
          <a:xfrm>
            <a:off x="548640" y="4114800"/>
            <a:ext cx="274320" cy="365760"/>
          </a:xfrm>
          <a:prstGeom prst="rect">
            <a:avLst/>
          </a:prstGeom>
          <a:noFill/>
          <a:ln/>
        </p:spPr>
        <p:txBody>
          <a:bodyPr wrap="square" lIns="0" tIns="0" rIns="0" bIns="0" rtlCol="0" anchor="ctr"/>
          <a:lstStyle/>
          <a:p>
            <a:pPr marL="0" indent="0">
              <a:buNone/>
            </a:pPr>
            <a:r>
              <a:rPr lang="en-US" sz="1400" b="1" dirty="0">
                <a:solidFill>
                  <a:srgbClr val="00C7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868680" y="4114800"/>
            <a:ext cx="5486400" cy="365760"/>
          </a:xfrm>
          <a:prstGeom prst="rect">
            <a:avLst/>
          </a:prstGeom>
          <a:noFill/>
          <a:ln/>
        </p:spPr>
        <p:txBody>
          <a:bodyPr wrap="square" lIns="0" tIns="0" rIns="0" bIns="0" rtlCol="0" anchor="ctr"/>
          <a:lstStyle/>
          <a:p>
            <a:pPr marL="0" indent="0">
              <a:buNone/>
            </a:pPr>
            <a:r>
              <a:rPr lang="en-US" sz="1350" dirty="0">
                <a:solidFill>
                  <a:srgbClr val="2A2A2A"/>
                </a:solidFill>
                <a:latin typeface="Calibri" pitchFamily="34" charset="0"/>
                <a:ea typeface="Calibri" pitchFamily="34" charset="-122"/>
                <a:cs typeface="Calibri" pitchFamily="34" charset="-120"/>
              </a:rPr>
              <a:t>Check top similarity score</a:t>
            </a:r>
            <a:endParaRPr lang="en-US" sz="1350" dirty="0"/>
          </a:p>
        </p:txBody>
      </p:sp>
      <p:sp>
        <p:nvSpPr>
          <p:cNvPr id="9" name="Text 7"/>
          <p:cNvSpPr/>
          <p:nvPr/>
        </p:nvSpPr>
        <p:spPr>
          <a:xfrm>
            <a:off x="548640" y="4572000"/>
            <a:ext cx="274320" cy="365760"/>
          </a:xfrm>
          <a:prstGeom prst="rect">
            <a:avLst/>
          </a:prstGeom>
          <a:noFill/>
          <a:ln/>
        </p:spPr>
        <p:txBody>
          <a:bodyPr wrap="square" lIns="0" tIns="0" rIns="0" bIns="0" rtlCol="0" anchor="ctr"/>
          <a:lstStyle/>
          <a:p>
            <a:pPr marL="0" indent="0">
              <a:buNone/>
            </a:pPr>
            <a:r>
              <a:rPr lang="en-US" sz="1400" b="1" dirty="0">
                <a:solidFill>
                  <a:srgbClr val="00C7FF"/>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868680" y="4572000"/>
            <a:ext cx="5486400" cy="365760"/>
          </a:xfrm>
          <a:prstGeom prst="rect">
            <a:avLst/>
          </a:prstGeom>
          <a:noFill/>
          <a:ln/>
        </p:spPr>
        <p:txBody>
          <a:bodyPr wrap="square" lIns="0" tIns="0" rIns="0" bIns="0" rtlCol="0" anchor="ctr"/>
          <a:lstStyle/>
          <a:p>
            <a:pPr marL="0" indent="0">
              <a:buNone/>
            </a:pPr>
            <a:r>
              <a:rPr lang="en-US" sz="1350" dirty="0">
                <a:solidFill>
                  <a:srgbClr val="2A2A2A"/>
                </a:solidFill>
                <a:latin typeface="Calibri" pitchFamily="34" charset="0"/>
                <a:ea typeface="Calibri" pitchFamily="34" charset="-122"/>
                <a:cs typeface="Calibri" pitchFamily="34" charset="-120"/>
              </a:rPr>
              <a:t>Score ≥ threshold → generate</a:t>
            </a:r>
            <a:endParaRPr lang="en-US" sz="1350" dirty="0"/>
          </a:p>
        </p:txBody>
      </p:sp>
      <p:sp>
        <p:nvSpPr>
          <p:cNvPr id="11" name="Text 9"/>
          <p:cNvSpPr/>
          <p:nvPr/>
        </p:nvSpPr>
        <p:spPr>
          <a:xfrm>
            <a:off x="548640" y="5029200"/>
            <a:ext cx="274320" cy="365760"/>
          </a:xfrm>
          <a:prstGeom prst="rect">
            <a:avLst/>
          </a:prstGeom>
          <a:noFill/>
          <a:ln/>
        </p:spPr>
        <p:txBody>
          <a:bodyPr wrap="square" lIns="0" tIns="0" rIns="0" bIns="0" rtlCol="0" anchor="ctr"/>
          <a:lstStyle/>
          <a:p>
            <a:pPr marL="0" indent="0">
              <a:buNone/>
            </a:pPr>
            <a:r>
              <a:rPr lang="en-US" sz="1400" b="1" dirty="0">
                <a:solidFill>
                  <a:srgbClr val="00C7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868680" y="5029200"/>
            <a:ext cx="5486400" cy="365760"/>
          </a:xfrm>
          <a:prstGeom prst="rect">
            <a:avLst/>
          </a:prstGeom>
          <a:noFill/>
          <a:ln/>
        </p:spPr>
        <p:txBody>
          <a:bodyPr wrap="square" lIns="0" tIns="0" rIns="0" bIns="0" rtlCol="0" anchor="ctr"/>
          <a:lstStyle/>
          <a:p>
            <a:pPr marL="0" indent="0">
              <a:buNone/>
            </a:pPr>
            <a:r>
              <a:rPr lang="en-US" sz="1350" dirty="0">
                <a:solidFill>
                  <a:srgbClr val="2A2A2A"/>
                </a:solidFill>
                <a:latin typeface="Calibri" pitchFamily="34" charset="0"/>
                <a:ea typeface="Calibri" pitchFamily="34" charset="-122"/>
                <a:cs typeface="Calibri" pitchFamily="34" charset="-120"/>
              </a:rPr>
              <a:t>Score &lt; threshold → refuse</a:t>
            </a:r>
            <a:endParaRPr lang="en-US" sz="1350" dirty="0"/>
          </a:p>
        </p:txBody>
      </p:sp>
      <p:sp>
        <p:nvSpPr>
          <p:cNvPr id="13" name="Shape 11"/>
          <p:cNvSpPr/>
          <p:nvPr/>
        </p:nvSpPr>
        <p:spPr>
          <a:xfrm>
            <a:off x="6720840" y="1691640"/>
            <a:ext cx="4892040" cy="3794760"/>
          </a:xfrm>
          <a:prstGeom prst="roundRect">
            <a:avLst>
              <a:gd name="adj" fmla="val 1928"/>
            </a:avLst>
          </a:prstGeom>
          <a:solidFill>
            <a:srgbClr val="0F307F"/>
          </a:solidFill>
          <a:ln/>
        </p:spPr>
      </p:sp>
      <p:sp>
        <p:nvSpPr>
          <p:cNvPr id="14" name="Text 12"/>
          <p:cNvSpPr/>
          <p:nvPr/>
        </p:nvSpPr>
        <p:spPr>
          <a:xfrm>
            <a:off x="7086600" y="2057400"/>
            <a:ext cx="457200" cy="1005840"/>
          </a:xfrm>
          <a:prstGeom prst="rect">
            <a:avLst/>
          </a:prstGeom>
          <a:noFill/>
          <a:ln/>
        </p:spPr>
        <p:txBody>
          <a:bodyPr wrap="square" lIns="0" tIns="0" rIns="0" bIns="0" rtlCol="0" anchor="ctr"/>
          <a:lstStyle/>
          <a:p>
            <a:pPr marL="0" indent="0" algn="l">
              <a:buNone/>
            </a:pPr>
            <a:r>
              <a:rPr lang="en-US" sz="4840" b="1" dirty="0">
                <a:solidFill>
                  <a:srgbClr val="00C7FF"/>
                </a:solidFill>
                <a:latin typeface="Cambria" pitchFamily="34" charset="0"/>
                <a:ea typeface="Cambria" pitchFamily="34" charset="-122"/>
                <a:cs typeface="Cambria" pitchFamily="34" charset="-120"/>
              </a:rPr>
              <a:t>[</a:t>
            </a:r>
            <a:endParaRPr lang="en-US" sz="4840" dirty="0"/>
          </a:p>
        </p:txBody>
      </p:sp>
      <p:sp>
        <p:nvSpPr>
          <p:cNvPr id="15" name="Text 13"/>
          <p:cNvSpPr/>
          <p:nvPr/>
        </p:nvSpPr>
        <p:spPr>
          <a:xfrm>
            <a:off x="10789920" y="2057400"/>
            <a:ext cx="457200" cy="1005840"/>
          </a:xfrm>
          <a:prstGeom prst="rect">
            <a:avLst/>
          </a:prstGeom>
          <a:noFill/>
          <a:ln/>
        </p:spPr>
        <p:txBody>
          <a:bodyPr wrap="square" lIns="0" tIns="0" rIns="0" bIns="0" rtlCol="0" anchor="ctr"/>
          <a:lstStyle/>
          <a:p>
            <a:pPr marL="0" indent="0" algn="r">
              <a:buNone/>
            </a:pPr>
            <a:r>
              <a:rPr lang="en-US" sz="4840" b="1" dirty="0">
                <a:solidFill>
                  <a:srgbClr val="00C7FF"/>
                </a:solidFill>
                <a:latin typeface="Cambria" pitchFamily="34" charset="0"/>
                <a:ea typeface="Cambria" pitchFamily="34" charset="-122"/>
                <a:cs typeface="Cambria" pitchFamily="34" charset="-120"/>
              </a:rPr>
              <a:t>]</a:t>
            </a:r>
            <a:endParaRPr lang="en-US" sz="4840" dirty="0"/>
          </a:p>
        </p:txBody>
      </p:sp>
      <p:sp>
        <p:nvSpPr>
          <p:cNvPr id="16" name="Text 14"/>
          <p:cNvSpPr/>
          <p:nvPr/>
        </p:nvSpPr>
        <p:spPr>
          <a:xfrm>
            <a:off x="7086600" y="2423160"/>
            <a:ext cx="4160520" cy="365760"/>
          </a:xfrm>
          <a:prstGeom prst="rect">
            <a:avLst/>
          </a:prstGeom>
          <a:noFill/>
          <a:ln/>
        </p:spPr>
        <p:txBody>
          <a:bodyPr wrap="square" lIns="0" tIns="0" rIns="0" bIns="0" rtlCol="0" anchor="ctr"/>
          <a:lstStyle/>
          <a:p>
            <a:pPr marL="0" indent="0" algn="ctr">
              <a:buNone/>
            </a:pPr>
            <a:r>
              <a:rPr lang="en-US" sz="1300" b="1" dirty="0">
                <a:solidFill>
                  <a:srgbClr val="00C7FF"/>
                </a:solidFill>
                <a:latin typeface="Calibri" pitchFamily="34" charset="0"/>
                <a:ea typeface="Calibri" pitchFamily="34" charset="-122"/>
                <a:cs typeface="Calibri" pitchFamily="34" charset="-120"/>
              </a:rPr>
              <a:t>Starting Point</a:t>
            </a:r>
            <a:endParaRPr lang="en-US" sz="1300" dirty="0"/>
          </a:p>
        </p:txBody>
      </p:sp>
      <p:sp>
        <p:nvSpPr>
          <p:cNvPr id="17" name="Text 15"/>
          <p:cNvSpPr/>
          <p:nvPr/>
        </p:nvSpPr>
        <p:spPr>
          <a:xfrm>
            <a:off x="7086600" y="2880360"/>
            <a:ext cx="4160520" cy="914400"/>
          </a:xfrm>
          <a:prstGeom prst="rect">
            <a:avLst/>
          </a:prstGeom>
          <a:noFill/>
          <a:ln/>
        </p:spPr>
        <p:txBody>
          <a:bodyPr wrap="square" lIns="0" tIns="0" rIns="0" bIns="0" rtlCol="0" anchor="ctr"/>
          <a:lstStyle/>
          <a:p>
            <a:pPr marL="0" indent="0" algn="ctr">
              <a:buNone/>
            </a:pPr>
            <a:r>
              <a:rPr lang="en-US" sz="2500" b="1" dirty="0">
                <a:solidFill>
                  <a:srgbClr val="FFFFFF"/>
                </a:solidFill>
                <a:latin typeface="Cambria" pitchFamily="34" charset="0"/>
                <a:ea typeface="Cambria" pitchFamily="34" charset="-122"/>
                <a:cs typeface="Cambria" pitchFamily="34" charset="-120"/>
              </a:rPr>
              <a:t>Threshold ≈ 0.65–0.75</a:t>
            </a:r>
            <a:endParaRPr lang="en-US" sz="2500" dirty="0"/>
          </a:p>
        </p:txBody>
      </p:sp>
      <p:sp>
        <p:nvSpPr>
          <p:cNvPr id="18" name="Text 16"/>
          <p:cNvSpPr/>
          <p:nvPr/>
        </p:nvSpPr>
        <p:spPr>
          <a:xfrm>
            <a:off x="7086600" y="3977640"/>
            <a:ext cx="4160520" cy="1371600"/>
          </a:xfrm>
          <a:prstGeom prst="rect">
            <a:avLst/>
          </a:prstGeom>
          <a:noFill/>
          <a:ln/>
        </p:spPr>
        <p:txBody>
          <a:bodyPr wrap="square" lIns="0" tIns="0" rIns="0" bIns="0" rtlCol="0" anchor="ctr"/>
          <a:lstStyle/>
          <a:p>
            <a:pPr marL="0" indent="0" algn="ctr">
              <a:buNone/>
            </a:pPr>
            <a:r>
              <a:rPr lang="en-US" sz="1250" dirty="0">
                <a:solidFill>
                  <a:srgbClr val="AFC6EF"/>
                </a:solidFill>
                <a:latin typeface="Calibri" pitchFamily="34" charset="0"/>
                <a:ea typeface="Calibri" pitchFamily="34" charset="-122"/>
                <a:cs typeface="Calibri" pitchFamily="34" charset="-120"/>
              </a:rPr>
              <a:t>Use your Day 2 Precision@k logs to calibrate — the score where relevant chunks reliably outrank irrelevant ones is your threshold.</a:t>
            </a:r>
            <a:endParaRPr lang="en-US" sz="1250" dirty="0"/>
          </a:p>
        </p:txBody>
      </p:sp>
      <p:pic>
        <p:nvPicPr>
          <p:cNvPr id="19"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20" name="Text 17"/>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21" name="Text 18"/>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08</a:t>
            </a:r>
            <a:endParaRPr lang="en-US" sz="900" dirty="0"/>
          </a:p>
        </p:txBody>
      </p:sp>
      <p:pic>
        <p:nvPicPr>
          <p:cNvPr id="22" name="Google Shape;90;p1">
            <a:extLst>
              <a:ext uri="{FF2B5EF4-FFF2-40B4-BE49-F238E27FC236}">
                <a16:creationId xmlns:a16="http://schemas.microsoft.com/office/drawing/2014/main" id="{6FB79A8B-38E2-46D9-9DFB-4BA7078E5B58}"/>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1 — CALIBRATION</a:t>
            </a:r>
            <a:endParaRPr lang="en-US" sz="1200" dirty="0"/>
          </a:p>
        </p:txBody>
      </p:sp>
      <p:sp>
        <p:nvSpPr>
          <p:cNvPr id="3" name="Text 1"/>
          <p:cNvSpPr/>
          <p:nvPr/>
        </p:nvSpPr>
        <p:spPr>
          <a:xfrm>
            <a:off x="548640" y="868680"/>
            <a:ext cx="96012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Every Threshold Is a Trade-off</a:t>
            </a:r>
            <a:endParaRPr lang="en-US" sz="3200" dirty="0"/>
          </a:p>
        </p:txBody>
      </p:sp>
      <p:sp>
        <p:nvSpPr>
          <p:cNvPr id="4" name="Shape 2"/>
          <p:cNvSpPr/>
          <p:nvPr/>
        </p:nvSpPr>
        <p:spPr>
          <a:xfrm>
            <a:off x="548640" y="1874520"/>
            <a:ext cx="5349240" cy="3566160"/>
          </a:xfrm>
          <a:prstGeom prst="roundRect">
            <a:avLst>
              <a:gd name="adj" fmla="val 2051"/>
            </a:avLst>
          </a:prstGeom>
          <a:solidFill>
            <a:srgbClr val="163B95"/>
          </a:solidFill>
          <a:ln/>
        </p:spPr>
      </p:sp>
      <p:sp>
        <p:nvSpPr>
          <p:cNvPr id="5" name="Text 3"/>
          <p:cNvSpPr/>
          <p:nvPr/>
        </p:nvSpPr>
        <p:spPr>
          <a:xfrm>
            <a:off x="868680" y="2148840"/>
            <a:ext cx="4709160" cy="4572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Threshold Too Low</a:t>
            </a:r>
            <a:endParaRPr lang="en-US" sz="1900" dirty="0"/>
          </a:p>
        </p:txBody>
      </p:sp>
      <p:sp>
        <p:nvSpPr>
          <p:cNvPr id="6" name="Text 4"/>
          <p:cNvSpPr/>
          <p:nvPr/>
        </p:nvSpPr>
        <p:spPr>
          <a:xfrm>
            <a:off x="868680" y="2788920"/>
            <a:ext cx="274320" cy="365760"/>
          </a:xfrm>
          <a:prstGeom prst="rect">
            <a:avLst/>
          </a:prstGeom>
          <a:noFill/>
          <a:ln/>
        </p:spPr>
        <p:txBody>
          <a:bodyPr wrap="square" lIns="0" tIns="0" rIns="0" bIns="0" rtlCol="0" anchor="ctr"/>
          <a:lstStyle/>
          <a:p>
            <a:pPr marL="0" indent="0">
              <a:buNone/>
            </a:pPr>
            <a:r>
              <a:rPr lang="en-US" sz="1300" b="1" dirty="0">
                <a:solidFill>
                  <a:srgbClr val="00C7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188720" y="2788920"/>
            <a:ext cx="4343400" cy="640080"/>
          </a:xfrm>
          <a:prstGeom prst="rect">
            <a:avLst/>
          </a:prstGeom>
          <a:noFill/>
          <a:ln/>
        </p:spPr>
        <p:txBody>
          <a:bodyPr wrap="square" lIns="0" tIns="0" rIns="0" bIns="0" rtlCol="0" anchor="t"/>
          <a:lstStyle/>
          <a:p>
            <a:pPr marL="0" indent="0">
              <a:buNone/>
            </a:pPr>
            <a:r>
              <a:rPr lang="en-US" sz="1250" dirty="0">
                <a:solidFill>
                  <a:srgbClr val="AFC6EF"/>
                </a:solidFill>
                <a:latin typeface="Calibri" pitchFamily="34" charset="0"/>
                <a:ea typeface="Calibri" pitchFamily="34" charset="-122"/>
                <a:cs typeface="Calibri" pitchFamily="34" charset="-120"/>
              </a:rPr>
              <a:t>Weak matches still trigger generation</a:t>
            </a:r>
            <a:endParaRPr lang="en-US" sz="1250" dirty="0"/>
          </a:p>
        </p:txBody>
      </p:sp>
      <p:sp>
        <p:nvSpPr>
          <p:cNvPr id="8" name="Text 6"/>
          <p:cNvSpPr/>
          <p:nvPr/>
        </p:nvSpPr>
        <p:spPr>
          <a:xfrm>
            <a:off x="868680" y="3566160"/>
            <a:ext cx="274320" cy="365760"/>
          </a:xfrm>
          <a:prstGeom prst="rect">
            <a:avLst/>
          </a:prstGeom>
          <a:noFill/>
          <a:ln/>
        </p:spPr>
        <p:txBody>
          <a:bodyPr wrap="square" lIns="0" tIns="0" rIns="0" bIns="0" rtlCol="0" anchor="ctr"/>
          <a:lstStyle/>
          <a:p>
            <a:pPr marL="0" indent="0">
              <a:buNone/>
            </a:pPr>
            <a:r>
              <a:rPr lang="en-US" sz="1300" b="1" dirty="0">
                <a:solidFill>
                  <a:srgbClr val="00C7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188720" y="3566160"/>
            <a:ext cx="4343400" cy="640080"/>
          </a:xfrm>
          <a:prstGeom prst="rect">
            <a:avLst/>
          </a:prstGeom>
          <a:noFill/>
          <a:ln/>
        </p:spPr>
        <p:txBody>
          <a:bodyPr wrap="square" lIns="0" tIns="0" rIns="0" bIns="0" rtlCol="0" anchor="t"/>
          <a:lstStyle/>
          <a:p>
            <a:pPr marL="0" indent="0">
              <a:buNone/>
            </a:pPr>
            <a:r>
              <a:rPr lang="en-US" sz="1250" dirty="0">
                <a:solidFill>
                  <a:srgbClr val="AFC6EF"/>
                </a:solidFill>
                <a:latin typeface="Calibri" pitchFamily="34" charset="0"/>
                <a:ea typeface="Calibri" pitchFamily="34" charset="-122"/>
                <a:cs typeface="Calibri" pitchFamily="34" charset="-120"/>
              </a:rPr>
              <a:t>Higher risk of answering from irrelevant context</a:t>
            </a:r>
            <a:endParaRPr lang="en-US" sz="1250" dirty="0"/>
          </a:p>
        </p:txBody>
      </p:sp>
      <p:sp>
        <p:nvSpPr>
          <p:cNvPr id="10" name="Text 8"/>
          <p:cNvSpPr/>
          <p:nvPr/>
        </p:nvSpPr>
        <p:spPr>
          <a:xfrm>
            <a:off x="868680" y="4343400"/>
            <a:ext cx="274320" cy="365760"/>
          </a:xfrm>
          <a:prstGeom prst="rect">
            <a:avLst/>
          </a:prstGeom>
          <a:noFill/>
          <a:ln/>
        </p:spPr>
        <p:txBody>
          <a:bodyPr wrap="square" lIns="0" tIns="0" rIns="0" bIns="0" rtlCol="0" anchor="ctr"/>
          <a:lstStyle/>
          <a:p>
            <a:pPr marL="0" indent="0">
              <a:buNone/>
            </a:pPr>
            <a:r>
              <a:rPr lang="en-US" sz="1300" b="1" dirty="0">
                <a:solidFill>
                  <a:srgbClr val="00C7FF"/>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1188720" y="4343400"/>
            <a:ext cx="4343400" cy="640080"/>
          </a:xfrm>
          <a:prstGeom prst="rect">
            <a:avLst/>
          </a:prstGeom>
          <a:noFill/>
          <a:ln/>
        </p:spPr>
        <p:txBody>
          <a:bodyPr wrap="square" lIns="0" tIns="0" rIns="0" bIns="0" rtlCol="0" anchor="t"/>
          <a:lstStyle/>
          <a:p>
            <a:pPr marL="0" indent="0">
              <a:buNone/>
            </a:pPr>
            <a:r>
              <a:rPr lang="en-US" sz="1250" dirty="0">
                <a:solidFill>
                  <a:srgbClr val="AFC6EF"/>
                </a:solidFill>
                <a:latin typeface="Calibri" pitchFamily="34" charset="0"/>
                <a:ea typeface="Calibri" pitchFamily="34" charset="-122"/>
                <a:cs typeface="Calibri" pitchFamily="34" charset="-120"/>
              </a:rPr>
              <a:t>More hallucination risk</a:t>
            </a:r>
            <a:endParaRPr lang="en-US" sz="1250" dirty="0"/>
          </a:p>
        </p:txBody>
      </p:sp>
      <p:sp>
        <p:nvSpPr>
          <p:cNvPr id="12" name="Shape 10"/>
          <p:cNvSpPr/>
          <p:nvPr/>
        </p:nvSpPr>
        <p:spPr>
          <a:xfrm>
            <a:off x="6263640" y="1874520"/>
            <a:ext cx="5349240" cy="3566160"/>
          </a:xfrm>
          <a:prstGeom prst="roundRect">
            <a:avLst>
              <a:gd name="adj" fmla="val 2051"/>
            </a:avLst>
          </a:prstGeom>
          <a:solidFill>
            <a:srgbClr val="163B95"/>
          </a:solidFill>
          <a:ln/>
        </p:spPr>
      </p:sp>
      <p:sp>
        <p:nvSpPr>
          <p:cNvPr id="13" name="Text 11"/>
          <p:cNvSpPr/>
          <p:nvPr/>
        </p:nvSpPr>
        <p:spPr>
          <a:xfrm>
            <a:off x="6583680" y="2148840"/>
            <a:ext cx="4709160" cy="4572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Threshold Too High</a:t>
            </a:r>
            <a:endParaRPr lang="en-US" sz="1900" dirty="0"/>
          </a:p>
        </p:txBody>
      </p:sp>
      <p:sp>
        <p:nvSpPr>
          <p:cNvPr id="14" name="Text 12"/>
          <p:cNvSpPr/>
          <p:nvPr/>
        </p:nvSpPr>
        <p:spPr>
          <a:xfrm>
            <a:off x="6583680" y="2788920"/>
            <a:ext cx="274320" cy="365760"/>
          </a:xfrm>
          <a:prstGeom prst="rect">
            <a:avLst/>
          </a:prstGeom>
          <a:noFill/>
          <a:ln/>
        </p:spPr>
        <p:txBody>
          <a:bodyPr wrap="square" lIns="0" tIns="0" rIns="0" bIns="0" rtlCol="0" anchor="ctr"/>
          <a:lstStyle/>
          <a:p>
            <a:pPr marL="0" indent="0">
              <a:buNone/>
            </a:pPr>
            <a:r>
              <a:rPr lang="en-US" sz="1300" b="1" dirty="0">
                <a:solidFill>
                  <a:srgbClr val="00C7FF"/>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6903720" y="2788920"/>
            <a:ext cx="4343400" cy="640080"/>
          </a:xfrm>
          <a:prstGeom prst="rect">
            <a:avLst/>
          </a:prstGeom>
          <a:noFill/>
          <a:ln/>
        </p:spPr>
        <p:txBody>
          <a:bodyPr wrap="square" lIns="0" tIns="0" rIns="0" bIns="0" rtlCol="0" anchor="t"/>
          <a:lstStyle/>
          <a:p>
            <a:pPr marL="0" indent="0">
              <a:buNone/>
            </a:pPr>
            <a:r>
              <a:rPr lang="en-US" sz="1250" dirty="0">
                <a:solidFill>
                  <a:srgbClr val="AFC6EF"/>
                </a:solidFill>
                <a:latin typeface="Calibri" pitchFamily="34" charset="0"/>
                <a:ea typeface="Calibri" pitchFamily="34" charset="-122"/>
                <a:cs typeface="Calibri" pitchFamily="34" charset="-120"/>
              </a:rPr>
              <a:t>System refuses questions it could actually answer</a:t>
            </a:r>
            <a:endParaRPr lang="en-US" sz="1250" dirty="0"/>
          </a:p>
        </p:txBody>
      </p:sp>
      <p:sp>
        <p:nvSpPr>
          <p:cNvPr id="16" name="Text 14"/>
          <p:cNvSpPr/>
          <p:nvPr/>
        </p:nvSpPr>
        <p:spPr>
          <a:xfrm>
            <a:off x="6583680" y="3566160"/>
            <a:ext cx="274320" cy="365760"/>
          </a:xfrm>
          <a:prstGeom prst="rect">
            <a:avLst/>
          </a:prstGeom>
          <a:noFill/>
          <a:ln/>
        </p:spPr>
        <p:txBody>
          <a:bodyPr wrap="square" lIns="0" tIns="0" rIns="0" bIns="0" rtlCol="0" anchor="ctr"/>
          <a:lstStyle/>
          <a:p>
            <a:pPr marL="0" indent="0">
              <a:buNone/>
            </a:pPr>
            <a:r>
              <a:rPr lang="en-US" sz="1300" b="1" dirty="0">
                <a:solidFill>
                  <a:srgbClr val="00C7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6903720" y="3566160"/>
            <a:ext cx="4343400" cy="640080"/>
          </a:xfrm>
          <a:prstGeom prst="rect">
            <a:avLst/>
          </a:prstGeom>
          <a:noFill/>
          <a:ln/>
        </p:spPr>
        <p:txBody>
          <a:bodyPr wrap="square" lIns="0" tIns="0" rIns="0" bIns="0" rtlCol="0" anchor="t"/>
          <a:lstStyle/>
          <a:p>
            <a:pPr marL="0" indent="0">
              <a:buNone/>
            </a:pPr>
            <a:r>
              <a:rPr lang="en-US" sz="1250" dirty="0">
                <a:solidFill>
                  <a:srgbClr val="AFC6EF"/>
                </a:solidFill>
                <a:latin typeface="Calibri" pitchFamily="34" charset="0"/>
                <a:ea typeface="Calibri" pitchFamily="34" charset="-122"/>
                <a:cs typeface="Calibri" pitchFamily="34" charset="-120"/>
              </a:rPr>
              <a:t>Frustrates users with unnecessary refusals</a:t>
            </a:r>
            <a:endParaRPr lang="en-US" sz="1250" dirty="0"/>
          </a:p>
        </p:txBody>
      </p:sp>
      <p:sp>
        <p:nvSpPr>
          <p:cNvPr id="18" name="Text 16"/>
          <p:cNvSpPr/>
          <p:nvPr/>
        </p:nvSpPr>
        <p:spPr>
          <a:xfrm>
            <a:off x="6583680" y="4343400"/>
            <a:ext cx="274320" cy="365760"/>
          </a:xfrm>
          <a:prstGeom prst="rect">
            <a:avLst/>
          </a:prstGeom>
          <a:noFill/>
          <a:ln/>
        </p:spPr>
        <p:txBody>
          <a:bodyPr wrap="square" lIns="0" tIns="0" rIns="0" bIns="0" rtlCol="0" anchor="ctr"/>
          <a:lstStyle/>
          <a:p>
            <a:pPr marL="0" indent="0">
              <a:buNone/>
            </a:pPr>
            <a:r>
              <a:rPr lang="en-US" sz="1300" b="1" dirty="0">
                <a:solidFill>
                  <a:srgbClr val="00C7FF"/>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6903720" y="4343400"/>
            <a:ext cx="4343400" cy="640080"/>
          </a:xfrm>
          <a:prstGeom prst="rect">
            <a:avLst/>
          </a:prstGeom>
          <a:noFill/>
          <a:ln/>
        </p:spPr>
        <p:txBody>
          <a:bodyPr wrap="square" lIns="0" tIns="0" rIns="0" bIns="0" rtlCol="0" anchor="t"/>
          <a:lstStyle/>
          <a:p>
            <a:pPr marL="0" indent="0">
              <a:buNone/>
            </a:pPr>
            <a:r>
              <a:rPr lang="en-US" sz="1250" dirty="0">
                <a:solidFill>
                  <a:srgbClr val="AFC6EF"/>
                </a:solidFill>
                <a:latin typeface="Calibri" pitchFamily="34" charset="0"/>
                <a:ea typeface="Calibri" pitchFamily="34" charset="-122"/>
                <a:cs typeface="Calibri" pitchFamily="34" charset="-120"/>
              </a:rPr>
              <a:t>Looks less capable than it is</a:t>
            </a:r>
            <a:endParaRPr lang="en-US" sz="1250" dirty="0"/>
          </a:p>
        </p:txBody>
      </p:sp>
      <p:pic>
        <p:nvPicPr>
          <p:cNvPr id="20"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21" name="Text 18"/>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22" name="Text 19"/>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09</a:t>
            </a:r>
            <a:endParaRPr lang="en-US" sz="900" dirty="0"/>
          </a:p>
        </p:txBody>
      </p:sp>
      <p:pic>
        <p:nvPicPr>
          <p:cNvPr id="23" name="Google Shape;90;p1">
            <a:extLst>
              <a:ext uri="{FF2B5EF4-FFF2-40B4-BE49-F238E27FC236}">
                <a16:creationId xmlns:a16="http://schemas.microsoft.com/office/drawing/2014/main" id="{1571B30B-F9B8-4717-A5CC-988614DD8430}"/>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1 — POST-HOC CHECK</a:t>
            </a:r>
            <a:endParaRPr lang="en-US" sz="1200" dirty="0"/>
          </a:p>
        </p:txBody>
      </p:sp>
      <p:sp>
        <p:nvSpPr>
          <p:cNvPr id="3" name="Text 1"/>
          <p:cNvSpPr/>
          <p:nvPr/>
        </p:nvSpPr>
        <p:spPr>
          <a:xfrm>
            <a:off x="548640" y="868680"/>
            <a:ext cx="10058400" cy="73152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Catching What Slips Past the Prompt</a:t>
            </a:r>
            <a:endParaRPr lang="en-US" sz="3000" dirty="0"/>
          </a:p>
        </p:txBody>
      </p:sp>
      <p:sp>
        <p:nvSpPr>
          <p:cNvPr id="4" name="Text 2"/>
          <p:cNvSpPr/>
          <p:nvPr/>
        </p:nvSpPr>
        <p:spPr>
          <a:xfrm>
            <a:off x="548640" y="1737360"/>
            <a:ext cx="10241280" cy="822960"/>
          </a:xfrm>
          <a:prstGeom prst="rect">
            <a:avLst/>
          </a:prstGeom>
          <a:noFill/>
          <a:ln/>
        </p:spPr>
        <p:txBody>
          <a:bodyPr wrap="square" lIns="0" tIns="0" rIns="0" bIns="0" rtlCol="0" anchor="ctr"/>
          <a:lstStyle/>
          <a:p>
            <a:pPr marL="0" indent="0">
              <a:buNone/>
            </a:pPr>
            <a:r>
              <a:rPr lang="en-US" sz="1500" dirty="0">
                <a:solidFill>
                  <a:srgbClr val="2A2A2A"/>
                </a:solidFill>
                <a:latin typeface="Calibri" pitchFamily="34" charset="0"/>
                <a:ea typeface="Calibri" pitchFamily="34" charset="-122"/>
                <a:cs typeface="Calibri" pitchFamily="34" charset="-120"/>
              </a:rPr>
              <a:t>Even a well-grounded prompt can occasionally drift. A second, independent check compares the generated answer against the retrieved text — a safety net, not a substitute for good prompting.</a:t>
            </a:r>
            <a:endParaRPr lang="en-US" sz="1500" dirty="0"/>
          </a:p>
        </p:txBody>
      </p:sp>
      <p:sp>
        <p:nvSpPr>
          <p:cNvPr id="5" name="Shape 3"/>
          <p:cNvSpPr/>
          <p:nvPr/>
        </p:nvSpPr>
        <p:spPr>
          <a:xfrm>
            <a:off x="548640" y="2788920"/>
            <a:ext cx="3520440" cy="2423160"/>
          </a:xfrm>
          <a:prstGeom prst="roundRect">
            <a:avLst>
              <a:gd name="adj" fmla="val 3019"/>
            </a:avLst>
          </a:prstGeom>
          <a:solidFill>
            <a:srgbClr val="F1F5FC"/>
          </a:solidFill>
          <a:ln w="12700">
            <a:solidFill>
              <a:srgbClr val="DCE6F7"/>
            </a:solidFill>
            <a:prstDash val="solid"/>
          </a:ln>
        </p:spPr>
      </p:sp>
      <p:sp>
        <p:nvSpPr>
          <p:cNvPr id="6" name="Shape 4"/>
          <p:cNvSpPr/>
          <p:nvPr/>
        </p:nvSpPr>
        <p:spPr>
          <a:xfrm>
            <a:off x="822960" y="3063240"/>
            <a:ext cx="502920" cy="502920"/>
          </a:xfrm>
          <a:prstGeom prst="roundRect">
            <a:avLst>
              <a:gd name="adj" fmla="val 12727"/>
            </a:avLst>
          </a:prstGeom>
          <a:solidFill>
            <a:srgbClr val="0F307F"/>
          </a:solidFill>
          <a:ln/>
        </p:spPr>
      </p:sp>
      <p:sp>
        <p:nvSpPr>
          <p:cNvPr id="7" name="Text 5"/>
          <p:cNvSpPr/>
          <p:nvPr/>
        </p:nvSpPr>
        <p:spPr>
          <a:xfrm>
            <a:off x="822960" y="3063240"/>
            <a:ext cx="502920" cy="502920"/>
          </a:xfrm>
          <a:prstGeom prst="rect">
            <a:avLst/>
          </a:prstGeom>
          <a:noFill/>
          <a:ln/>
        </p:spPr>
        <p:txBody>
          <a:bodyPr wrap="square" lIns="0" tIns="0" rIns="0" bIns="0" rtlCol="0" anchor="ctr"/>
          <a:lstStyle/>
          <a:p>
            <a:pPr marL="0" indent="0" algn="ctr">
              <a:buNone/>
            </a:pPr>
            <a:r>
              <a:rPr lang="en-US" sz="1800" b="1" dirty="0">
                <a:solidFill>
                  <a:srgbClr val="00C7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822960" y="3703320"/>
            <a:ext cx="2971800" cy="457200"/>
          </a:xfrm>
          <a:prstGeom prst="rect">
            <a:avLst/>
          </a:prstGeom>
          <a:noFill/>
          <a:ln/>
        </p:spPr>
        <p:txBody>
          <a:bodyPr wrap="square" lIns="0" tIns="0" rIns="0" bIns="0" rtlCol="0" anchor="ctr"/>
          <a:lstStyle/>
          <a:p>
            <a:pPr marL="0" indent="0">
              <a:buNone/>
            </a:pPr>
            <a:r>
              <a:rPr lang="en-US" sz="1700" b="1" dirty="0">
                <a:solidFill>
                  <a:srgbClr val="0F307F"/>
                </a:solidFill>
                <a:latin typeface="Cambria" pitchFamily="34" charset="0"/>
                <a:ea typeface="Cambria" pitchFamily="34" charset="-122"/>
                <a:cs typeface="Cambria" pitchFamily="34" charset="-120"/>
              </a:rPr>
              <a:t>Split</a:t>
            </a:r>
            <a:endParaRPr lang="en-US" sz="1700" dirty="0"/>
          </a:p>
        </p:txBody>
      </p:sp>
      <p:sp>
        <p:nvSpPr>
          <p:cNvPr id="9" name="Text 7"/>
          <p:cNvSpPr/>
          <p:nvPr/>
        </p:nvSpPr>
        <p:spPr>
          <a:xfrm>
            <a:off x="822960" y="4206240"/>
            <a:ext cx="2971800" cy="914400"/>
          </a:xfrm>
          <a:prstGeom prst="rect">
            <a:avLst/>
          </a:prstGeom>
          <a:noFill/>
          <a:ln/>
        </p:spPr>
        <p:txBody>
          <a:bodyPr wrap="square" lIns="0" tIns="0" rIns="0" bIns="0" rtlCol="0" anchor="t"/>
          <a:lstStyle/>
          <a:p>
            <a:pPr marL="0" indent="0">
              <a:buNone/>
            </a:pPr>
            <a:r>
              <a:rPr lang="en-US" sz="1250" dirty="0">
                <a:solidFill>
                  <a:srgbClr val="2A2A2A"/>
                </a:solidFill>
                <a:latin typeface="Calibri" pitchFamily="34" charset="0"/>
                <a:ea typeface="Calibri" pitchFamily="34" charset="-122"/>
                <a:cs typeface="Calibri" pitchFamily="34" charset="-120"/>
              </a:rPr>
              <a:t>Break the generated answer into individual factual claims</a:t>
            </a:r>
            <a:endParaRPr lang="en-US" sz="1250" dirty="0"/>
          </a:p>
        </p:txBody>
      </p:sp>
      <p:sp>
        <p:nvSpPr>
          <p:cNvPr id="10" name="Shape 8"/>
          <p:cNvSpPr/>
          <p:nvPr/>
        </p:nvSpPr>
        <p:spPr>
          <a:xfrm>
            <a:off x="4343400" y="2788920"/>
            <a:ext cx="3520440" cy="2423160"/>
          </a:xfrm>
          <a:prstGeom prst="roundRect">
            <a:avLst>
              <a:gd name="adj" fmla="val 3019"/>
            </a:avLst>
          </a:prstGeom>
          <a:solidFill>
            <a:srgbClr val="F1F5FC"/>
          </a:solidFill>
          <a:ln w="12700">
            <a:solidFill>
              <a:srgbClr val="DCE6F7"/>
            </a:solidFill>
            <a:prstDash val="solid"/>
          </a:ln>
        </p:spPr>
      </p:sp>
      <p:sp>
        <p:nvSpPr>
          <p:cNvPr id="11" name="Shape 9"/>
          <p:cNvSpPr/>
          <p:nvPr/>
        </p:nvSpPr>
        <p:spPr>
          <a:xfrm>
            <a:off x="4617720" y="3063240"/>
            <a:ext cx="502920" cy="502920"/>
          </a:xfrm>
          <a:prstGeom prst="roundRect">
            <a:avLst>
              <a:gd name="adj" fmla="val 12727"/>
            </a:avLst>
          </a:prstGeom>
          <a:solidFill>
            <a:srgbClr val="0F307F"/>
          </a:solidFill>
          <a:ln/>
        </p:spPr>
      </p:sp>
      <p:sp>
        <p:nvSpPr>
          <p:cNvPr id="12" name="Text 10"/>
          <p:cNvSpPr/>
          <p:nvPr/>
        </p:nvSpPr>
        <p:spPr>
          <a:xfrm>
            <a:off x="4617720" y="3063240"/>
            <a:ext cx="502920" cy="502920"/>
          </a:xfrm>
          <a:prstGeom prst="rect">
            <a:avLst/>
          </a:prstGeom>
          <a:noFill/>
          <a:ln/>
        </p:spPr>
        <p:txBody>
          <a:bodyPr wrap="square" lIns="0" tIns="0" rIns="0" bIns="0" rtlCol="0" anchor="ctr"/>
          <a:lstStyle/>
          <a:p>
            <a:pPr marL="0" indent="0" algn="ctr">
              <a:buNone/>
            </a:pPr>
            <a:r>
              <a:rPr lang="en-US" sz="1800" b="1" dirty="0">
                <a:solidFill>
                  <a:srgbClr val="00C7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617720" y="3703320"/>
            <a:ext cx="2971800" cy="457200"/>
          </a:xfrm>
          <a:prstGeom prst="rect">
            <a:avLst/>
          </a:prstGeom>
          <a:noFill/>
          <a:ln/>
        </p:spPr>
        <p:txBody>
          <a:bodyPr wrap="square" lIns="0" tIns="0" rIns="0" bIns="0" rtlCol="0" anchor="ctr"/>
          <a:lstStyle/>
          <a:p>
            <a:pPr marL="0" indent="0">
              <a:buNone/>
            </a:pPr>
            <a:r>
              <a:rPr lang="en-US" sz="1700" b="1" dirty="0">
                <a:solidFill>
                  <a:srgbClr val="0F307F"/>
                </a:solidFill>
                <a:latin typeface="Cambria" pitchFamily="34" charset="0"/>
                <a:ea typeface="Cambria" pitchFamily="34" charset="-122"/>
                <a:cs typeface="Cambria" pitchFamily="34" charset="-120"/>
              </a:rPr>
              <a:t>Match</a:t>
            </a:r>
            <a:endParaRPr lang="en-US" sz="1700" dirty="0"/>
          </a:p>
        </p:txBody>
      </p:sp>
      <p:sp>
        <p:nvSpPr>
          <p:cNvPr id="14" name="Text 12"/>
          <p:cNvSpPr/>
          <p:nvPr/>
        </p:nvSpPr>
        <p:spPr>
          <a:xfrm>
            <a:off x="4617720" y="4206240"/>
            <a:ext cx="2971800" cy="914400"/>
          </a:xfrm>
          <a:prstGeom prst="rect">
            <a:avLst/>
          </a:prstGeom>
          <a:noFill/>
          <a:ln/>
        </p:spPr>
        <p:txBody>
          <a:bodyPr wrap="square" lIns="0" tIns="0" rIns="0" bIns="0" rtlCol="0" anchor="t"/>
          <a:lstStyle/>
          <a:p>
            <a:pPr marL="0" indent="0">
              <a:buNone/>
            </a:pPr>
            <a:r>
              <a:rPr lang="en-US" sz="1250" dirty="0">
                <a:solidFill>
                  <a:srgbClr val="2A2A2A"/>
                </a:solidFill>
                <a:latin typeface="Calibri" pitchFamily="34" charset="0"/>
                <a:ea typeface="Calibri" pitchFamily="34" charset="-122"/>
                <a:cs typeface="Calibri" pitchFamily="34" charset="-120"/>
              </a:rPr>
              <a:t>Check whether each claim appears in the retrieved passages</a:t>
            </a:r>
            <a:endParaRPr lang="en-US" sz="1250" dirty="0"/>
          </a:p>
        </p:txBody>
      </p:sp>
      <p:sp>
        <p:nvSpPr>
          <p:cNvPr id="15" name="Shape 13"/>
          <p:cNvSpPr/>
          <p:nvPr/>
        </p:nvSpPr>
        <p:spPr>
          <a:xfrm>
            <a:off x="8138160" y="2788920"/>
            <a:ext cx="3520440" cy="2423160"/>
          </a:xfrm>
          <a:prstGeom prst="roundRect">
            <a:avLst>
              <a:gd name="adj" fmla="val 3019"/>
            </a:avLst>
          </a:prstGeom>
          <a:solidFill>
            <a:srgbClr val="F1F5FC"/>
          </a:solidFill>
          <a:ln w="12700">
            <a:solidFill>
              <a:srgbClr val="DCE6F7"/>
            </a:solidFill>
            <a:prstDash val="solid"/>
          </a:ln>
        </p:spPr>
      </p:sp>
      <p:sp>
        <p:nvSpPr>
          <p:cNvPr id="16" name="Shape 14"/>
          <p:cNvSpPr/>
          <p:nvPr/>
        </p:nvSpPr>
        <p:spPr>
          <a:xfrm>
            <a:off x="8412480" y="3063240"/>
            <a:ext cx="502920" cy="502920"/>
          </a:xfrm>
          <a:prstGeom prst="roundRect">
            <a:avLst>
              <a:gd name="adj" fmla="val 12727"/>
            </a:avLst>
          </a:prstGeom>
          <a:solidFill>
            <a:srgbClr val="0F307F"/>
          </a:solidFill>
          <a:ln/>
        </p:spPr>
      </p:sp>
      <p:sp>
        <p:nvSpPr>
          <p:cNvPr id="17" name="Text 15"/>
          <p:cNvSpPr/>
          <p:nvPr/>
        </p:nvSpPr>
        <p:spPr>
          <a:xfrm>
            <a:off x="8412480" y="3063240"/>
            <a:ext cx="502920" cy="502920"/>
          </a:xfrm>
          <a:prstGeom prst="rect">
            <a:avLst/>
          </a:prstGeom>
          <a:noFill/>
          <a:ln/>
        </p:spPr>
        <p:txBody>
          <a:bodyPr wrap="square" lIns="0" tIns="0" rIns="0" bIns="0" rtlCol="0" anchor="ctr"/>
          <a:lstStyle/>
          <a:p>
            <a:pPr marL="0" indent="0" algn="ctr">
              <a:buNone/>
            </a:pPr>
            <a:r>
              <a:rPr lang="en-US" sz="1800" b="1" dirty="0">
                <a:solidFill>
                  <a:srgbClr val="00C7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8412480" y="3703320"/>
            <a:ext cx="2971800" cy="457200"/>
          </a:xfrm>
          <a:prstGeom prst="rect">
            <a:avLst/>
          </a:prstGeom>
          <a:noFill/>
          <a:ln/>
        </p:spPr>
        <p:txBody>
          <a:bodyPr wrap="square" lIns="0" tIns="0" rIns="0" bIns="0" rtlCol="0" anchor="ctr"/>
          <a:lstStyle/>
          <a:p>
            <a:pPr marL="0" indent="0">
              <a:buNone/>
            </a:pPr>
            <a:r>
              <a:rPr lang="en-US" sz="1700" b="1" dirty="0">
                <a:solidFill>
                  <a:srgbClr val="0F307F"/>
                </a:solidFill>
                <a:latin typeface="Cambria" pitchFamily="34" charset="0"/>
                <a:ea typeface="Cambria" pitchFamily="34" charset="-122"/>
                <a:cs typeface="Cambria" pitchFamily="34" charset="-120"/>
              </a:rPr>
              <a:t>Flag</a:t>
            </a:r>
            <a:endParaRPr lang="en-US" sz="1700" dirty="0"/>
          </a:p>
        </p:txBody>
      </p:sp>
      <p:sp>
        <p:nvSpPr>
          <p:cNvPr id="19" name="Text 17"/>
          <p:cNvSpPr/>
          <p:nvPr/>
        </p:nvSpPr>
        <p:spPr>
          <a:xfrm>
            <a:off x="8412480" y="4206240"/>
            <a:ext cx="2971800" cy="914400"/>
          </a:xfrm>
          <a:prstGeom prst="rect">
            <a:avLst/>
          </a:prstGeom>
          <a:noFill/>
          <a:ln/>
        </p:spPr>
        <p:txBody>
          <a:bodyPr wrap="square" lIns="0" tIns="0" rIns="0" bIns="0" rtlCol="0" anchor="t"/>
          <a:lstStyle/>
          <a:p>
            <a:pPr marL="0" indent="0">
              <a:buNone/>
            </a:pPr>
            <a:r>
              <a:rPr lang="en-US" sz="1250" dirty="0">
                <a:solidFill>
                  <a:srgbClr val="2A2A2A"/>
                </a:solidFill>
                <a:latin typeface="Calibri" pitchFamily="34" charset="0"/>
                <a:ea typeface="Calibri" pitchFamily="34" charset="-122"/>
                <a:cs typeface="Calibri" pitchFamily="34" charset="-120"/>
              </a:rPr>
              <a:t>Any claim without a matching source is flagged as unsupported</a:t>
            </a:r>
            <a:endParaRPr lang="en-US" sz="1250" dirty="0"/>
          </a:p>
        </p:txBody>
      </p:sp>
      <p:pic>
        <p:nvPicPr>
          <p:cNvPr id="20"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21" name="Text 18"/>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22" name="Text 19"/>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10</a:t>
            </a:r>
            <a:endParaRPr lang="en-US" sz="900" dirty="0"/>
          </a:p>
        </p:txBody>
      </p:sp>
      <p:pic>
        <p:nvPicPr>
          <p:cNvPr id="23" name="Google Shape;90;p1">
            <a:extLst>
              <a:ext uri="{FF2B5EF4-FFF2-40B4-BE49-F238E27FC236}">
                <a16:creationId xmlns:a16="http://schemas.microsoft.com/office/drawing/2014/main" id="{639DC12D-BAF6-43EC-B9A0-C4809D356A30}"/>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F307F"/>
        </a:solidFill>
        <a:effectLst/>
      </p:bgPr>
    </p:bg>
    <p:spTree>
      <p:nvGrpSpPr>
        <p:cNvPr id="1" name=""/>
        <p:cNvGrpSpPr/>
        <p:nvPr/>
      </p:nvGrpSpPr>
      <p:grpSpPr>
        <a:xfrm>
          <a:off x="0" y="0"/>
          <a:ext cx="0" cy="0"/>
          <a:chOff x="0" y="0"/>
          <a:chExt cx="0" cy="0"/>
        </a:xfrm>
      </p:grpSpPr>
      <p:sp>
        <p:nvSpPr>
          <p:cNvPr id="2" name="Text 0"/>
          <p:cNvSpPr/>
          <p:nvPr/>
        </p:nvSpPr>
        <p:spPr>
          <a:xfrm>
            <a:off x="1280160" y="2286000"/>
            <a:ext cx="457200" cy="1371600"/>
          </a:xfrm>
          <a:prstGeom prst="rect">
            <a:avLst/>
          </a:prstGeom>
          <a:noFill/>
          <a:ln/>
        </p:spPr>
        <p:txBody>
          <a:bodyPr wrap="square" lIns="0" tIns="0" rIns="0" bIns="0" rtlCol="0" anchor="ctr"/>
          <a:lstStyle/>
          <a:p>
            <a:pPr marL="0" indent="0" algn="l">
              <a:buNone/>
            </a:pPr>
            <a:r>
              <a:rPr lang="en-US" sz="6600" b="1" dirty="0">
                <a:solidFill>
                  <a:srgbClr val="00C7FF"/>
                </a:solidFill>
                <a:latin typeface="Cambria" pitchFamily="34" charset="0"/>
                <a:ea typeface="Cambria" pitchFamily="34" charset="-122"/>
                <a:cs typeface="Cambria" pitchFamily="34" charset="-120"/>
              </a:rPr>
              <a:t>[</a:t>
            </a:r>
            <a:endParaRPr lang="en-US" sz="6600" dirty="0"/>
          </a:p>
        </p:txBody>
      </p:sp>
      <p:sp>
        <p:nvSpPr>
          <p:cNvPr id="3" name="Text 1"/>
          <p:cNvSpPr/>
          <p:nvPr/>
        </p:nvSpPr>
        <p:spPr>
          <a:xfrm>
            <a:off x="10451592" y="2286000"/>
            <a:ext cx="457200" cy="1371600"/>
          </a:xfrm>
          <a:prstGeom prst="rect">
            <a:avLst/>
          </a:prstGeom>
          <a:noFill/>
          <a:ln/>
        </p:spPr>
        <p:txBody>
          <a:bodyPr wrap="square" lIns="0" tIns="0" rIns="0" bIns="0" rtlCol="0" anchor="ctr"/>
          <a:lstStyle/>
          <a:p>
            <a:pPr marL="0" indent="0" algn="r">
              <a:buNone/>
            </a:pPr>
            <a:r>
              <a:rPr lang="en-US" sz="6600" b="1" dirty="0">
                <a:solidFill>
                  <a:srgbClr val="00C7FF"/>
                </a:solidFill>
                <a:latin typeface="Cambria" pitchFamily="34" charset="0"/>
                <a:ea typeface="Cambria" pitchFamily="34" charset="-122"/>
                <a:cs typeface="Cambria" pitchFamily="34" charset="-120"/>
              </a:rPr>
              <a:t>]</a:t>
            </a:r>
            <a:endParaRPr lang="en-US" sz="6600" dirty="0"/>
          </a:p>
        </p:txBody>
      </p:sp>
      <p:sp>
        <p:nvSpPr>
          <p:cNvPr id="4" name="Text 2"/>
          <p:cNvSpPr/>
          <p:nvPr/>
        </p:nvSpPr>
        <p:spPr>
          <a:xfrm>
            <a:off x="1280160" y="2423160"/>
            <a:ext cx="9628632" cy="457200"/>
          </a:xfrm>
          <a:prstGeom prst="rect">
            <a:avLst/>
          </a:prstGeom>
          <a:noFill/>
          <a:ln/>
        </p:spPr>
        <p:txBody>
          <a:bodyPr wrap="square" lIns="0" tIns="0" rIns="0" bIns="0" rtlCol="0" anchor="ctr"/>
          <a:lstStyle/>
          <a:p>
            <a:pPr marL="0" indent="0" algn="ctr">
              <a:buNone/>
            </a:pPr>
            <a:r>
              <a:rPr lang="en-US" sz="1500" b="1" kern="0" spc="300" dirty="0">
                <a:solidFill>
                  <a:srgbClr val="00C7FF"/>
                </a:solidFill>
                <a:latin typeface="Calibri" pitchFamily="34" charset="0"/>
                <a:ea typeface="Calibri" pitchFamily="34" charset="-122"/>
                <a:cs typeface="Calibri" pitchFamily="34" charset="-120"/>
              </a:rPr>
              <a:t>MODULE 2</a:t>
            </a:r>
            <a:endParaRPr lang="en-US" sz="1500" dirty="0"/>
          </a:p>
        </p:txBody>
      </p:sp>
      <p:sp>
        <p:nvSpPr>
          <p:cNvPr id="5" name="Text 3"/>
          <p:cNvSpPr/>
          <p:nvPr/>
        </p:nvSpPr>
        <p:spPr>
          <a:xfrm>
            <a:off x="1280160" y="2880360"/>
            <a:ext cx="9628632"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Evaluation Metrics</a:t>
            </a:r>
            <a:endParaRPr lang="en-US" sz="3800" dirty="0"/>
          </a:p>
        </p:txBody>
      </p:sp>
      <p:sp>
        <p:nvSpPr>
          <p:cNvPr id="6" name="Text 4"/>
          <p:cNvSpPr/>
          <p:nvPr/>
        </p:nvSpPr>
        <p:spPr>
          <a:xfrm>
            <a:off x="2194560" y="3931920"/>
            <a:ext cx="7799832" cy="548640"/>
          </a:xfrm>
          <a:prstGeom prst="rect">
            <a:avLst/>
          </a:prstGeom>
          <a:noFill/>
          <a:ln/>
        </p:spPr>
        <p:txBody>
          <a:bodyPr wrap="square" lIns="0" tIns="0" rIns="0" bIns="0" rtlCol="0" anchor="ctr"/>
          <a:lstStyle/>
          <a:p>
            <a:pPr marL="0" indent="0" algn="ctr">
              <a:buNone/>
            </a:pPr>
            <a:r>
              <a:rPr lang="en-US" sz="1400" dirty="0">
                <a:solidFill>
                  <a:srgbClr val="AFC6EF"/>
                </a:solidFill>
                <a:latin typeface="Calibri" pitchFamily="34" charset="0"/>
                <a:ea typeface="Calibri" pitchFamily="34" charset="-122"/>
                <a:cs typeface="Calibri" pitchFamily="34" charset="-120"/>
              </a:rPr>
              <a:t>The three numbers your judges will ask for by name</a:t>
            </a:r>
            <a:endParaRPr lang="en-US" sz="1400" dirty="0"/>
          </a:p>
        </p:txBody>
      </p:sp>
      <p:pic>
        <p:nvPicPr>
          <p:cNvPr id="7" name="Image 0" descr="/home/claude/day4deck/logo_dark.jpg"/>
          <p:cNvPicPr>
            <a:picLocks noChangeAspect="1"/>
          </p:cNvPicPr>
          <p:nvPr/>
        </p:nvPicPr>
        <p:blipFill>
          <a:blip r:embed="rId3"/>
          <a:stretch>
            <a:fillRect/>
          </a:stretch>
        </p:blipFill>
        <p:spPr>
          <a:xfrm>
            <a:off x="457200" y="6291072"/>
            <a:ext cx="384048" cy="384048"/>
          </a:xfrm>
          <a:prstGeom prst="rect">
            <a:avLst/>
          </a:prstGeom>
        </p:spPr>
      </p:pic>
      <p:sp>
        <p:nvSpPr>
          <p:cNvPr id="8" name="Text 5"/>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AFC6EF"/>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9" name="Text 6"/>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AFC6EF"/>
                </a:solidFill>
                <a:latin typeface="Calibri" pitchFamily="34" charset="0"/>
                <a:ea typeface="Calibri" pitchFamily="34" charset="-122"/>
                <a:cs typeface="Calibri" pitchFamily="34" charset="-120"/>
              </a:rPr>
              <a:t>11</a:t>
            </a:r>
            <a:endParaRPr lang="en-US" sz="900" dirty="0"/>
          </a:p>
        </p:txBody>
      </p:sp>
      <p:pic>
        <p:nvPicPr>
          <p:cNvPr id="10" name="Google Shape;90;p1">
            <a:extLst>
              <a:ext uri="{FF2B5EF4-FFF2-40B4-BE49-F238E27FC236}">
                <a16:creationId xmlns:a16="http://schemas.microsoft.com/office/drawing/2014/main" id="{D8A222E6-0A2F-483A-9F09-58B04513ADEC}"/>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2 — THE SCORECARD</a:t>
            </a:r>
            <a:endParaRPr lang="en-US" sz="1200" dirty="0"/>
          </a:p>
        </p:txBody>
      </p:sp>
      <p:sp>
        <p:nvSpPr>
          <p:cNvPr id="3" name="Text 1"/>
          <p:cNvSpPr/>
          <p:nvPr/>
        </p:nvSpPr>
        <p:spPr>
          <a:xfrm>
            <a:off x="548640" y="868680"/>
            <a:ext cx="96012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Three Metrics That Matter Most</a:t>
            </a:r>
            <a:endParaRPr lang="en-US" sz="3200" dirty="0"/>
          </a:p>
        </p:txBody>
      </p:sp>
      <p:sp>
        <p:nvSpPr>
          <p:cNvPr id="4" name="Shape 2"/>
          <p:cNvSpPr/>
          <p:nvPr/>
        </p:nvSpPr>
        <p:spPr>
          <a:xfrm>
            <a:off x="548640" y="1920240"/>
            <a:ext cx="3520440" cy="3383280"/>
          </a:xfrm>
          <a:prstGeom prst="roundRect">
            <a:avLst>
              <a:gd name="adj" fmla="val 2162"/>
            </a:avLst>
          </a:prstGeom>
          <a:solidFill>
            <a:srgbClr val="F1F5FC"/>
          </a:solidFill>
          <a:ln w="12700">
            <a:solidFill>
              <a:srgbClr val="DCE6F7"/>
            </a:solidFill>
            <a:prstDash val="solid"/>
          </a:ln>
        </p:spPr>
      </p:sp>
      <p:sp>
        <p:nvSpPr>
          <p:cNvPr id="5" name="Text 3"/>
          <p:cNvSpPr/>
          <p:nvPr/>
        </p:nvSpPr>
        <p:spPr>
          <a:xfrm>
            <a:off x="822960" y="2194560"/>
            <a:ext cx="2971800" cy="822960"/>
          </a:xfrm>
          <a:prstGeom prst="rect">
            <a:avLst/>
          </a:prstGeom>
          <a:noFill/>
          <a:ln/>
        </p:spPr>
        <p:txBody>
          <a:bodyPr wrap="square" lIns="0" tIns="0" rIns="0" bIns="0" rtlCol="0" anchor="ctr"/>
          <a:lstStyle/>
          <a:p>
            <a:pPr marL="0" indent="0">
              <a:buNone/>
            </a:pPr>
            <a:r>
              <a:rPr lang="en-US" sz="1800" b="1" dirty="0">
                <a:solidFill>
                  <a:srgbClr val="0F307F"/>
                </a:solidFill>
                <a:latin typeface="Cambria" pitchFamily="34" charset="0"/>
                <a:ea typeface="Cambria" pitchFamily="34" charset="-122"/>
                <a:cs typeface="Cambria" pitchFamily="34" charset="-120"/>
              </a:rPr>
              <a:t>Retrieval</a:t>
            </a:r>
            <a:endParaRPr lang="en-US" sz="1800" dirty="0"/>
          </a:p>
          <a:p>
            <a:pPr marL="0" indent="0">
              <a:buNone/>
            </a:pPr>
            <a:r>
              <a:rPr lang="en-US" sz="1800" b="1" dirty="0">
                <a:solidFill>
                  <a:srgbClr val="0F307F"/>
                </a:solidFill>
                <a:latin typeface="Cambria" pitchFamily="34" charset="0"/>
                <a:ea typeface="Cambria" pitchFamily="34" charset="-122"/>
                <a:cs typeface="Cambria" pitchFamily="34" charset="-120"/>
              </a:rPr>
              <a:t>Precision@k</a:t>
            </a:r>
            <a:endParaRPr lang="en-US" sz="1800" dirty="0"/>
          </a:p>
        </p:txBody>
      </p:sp>
      <p:sp>
        <p:nvSpPr>
          <p:cNvPr id="6" name="Text 4"/>
          <p:cNvSpPr/>
          <p:nvPr/>
        </p:nvSpPr>
        <p:spPr>
          <a:xfrm>
            <a:off x="822960" y="3108960"/>
            <a:ext cx="2971800" cy="1188720"/>
          </a:xfrm>
          <a:prstGeom prst="rect">
            <a:avLst/>
          </a:prstGeom>
          <a:noFill/>
          <a:ln/>
        </p:spPr>
        <p:txBody>
          <a:bodyPr wrap="square" lIns="0" tIns="0" rIns="0" bIns="0" rtlCol="0" anchor="t"/>
          <a:lstStyle/>
          <a:p>
            <a:pPr marL="0" indent="0">
              <a:buNone/>
            </a:pPr>
            <a:r>
              <a:rPr lang="en-US" sz="1250" dirty="0">
                <a:solidFill>
                  <a:srgbClr val="2A2A2A"/>
                </a:solidFill>
                <a:latin typeface="Calibri" pitchFamily="34" charset="0"/>
                <a:ea typeface="Calibri" pitchFamily="34" charset="-122"/>
                <a:cs typeface="Calibri" pitchFamily="34" charset="-120"/>
              </a:rPr>
              <a:t>Are the retrieved chunks actually relevant?</a:t>
            </a:r>
            <a:endParaRPr lang="en-US" sz="1250" dirty="0"/>
          </a:p>
        </p:txBody>
      </p:sp>
      <p:sp>
        <p:nvSpPr>
          <p:cNvPr id="7" name="Text 5"/>
          <p:cNvSpPr/>
          <p:nvPr/>
        </p:nvSpPr>
        <p:spPr>
          <a:xfrm>
            <a:off x="822960" y="4709160"/>
            <a:ext cx="2971800" cy="365760"/>
          </a:xfrm>
          <a:prstGeom prst="rect">
            <a:avLst/>
          </a:prstGeom>
          <a:noFill/>
          <a:ln/>
        </p:spPr>
        <p:txBody>
          <a:bodyPr wrap="square" lIns="0" tIns="0" rIns="0" bIns="0" rtlCol="0" anchor="ctr"/>
          <a:lstStyle/>
          <a:p>
            <a:pPr marL="0" indent="0">
              <a:buNone/>
            </a:pPr>
            <a:r>
              <a:rPr lang="en-US" sz="1000" b="1" dirty="0">
                <a:solidFill>
                  <a:srgbClr val="0F307F"/>
                </a:solidFill>
                <a:latin typeface="Calibri" pitchFamily="34" charset="0"/>
                <a:ea typeface="Calibri" pitchFamily="34" charset="-122"/>
                <a:cs typeface="Calibri" pitchFamily="34" charset="-120"/>
              </a:rPr>
              <a:t>BUILT ON YOUR DAY 2 TEST SET</a:t>
            </a:r>
            <a:endParaRPr lang="en-US" sz="1000" dirty="0"/>
          </a:p>
        </p:txBody>
      </p:sp>
      <p:sp>
        <p:nvSpPr>
          <p:cNvPr id="8" name="Shape 6"/>
          <p:cNvSpPr/>
          <p:nvPr/>
        </p:nvSpPr>
        <p:spPr>
          <a:xfrm>
            <a:off x="4343400" y="1920240"/>
            <a:ext cx="3520440" cy="3383280"/>
          </a:xfrm>
          <a:prstGeom prst="roundRect">
            <a:avLst>
              <a:gd name="adj" fmla="val 2162"/>
            </a:avLst>
          </a:prstGeom>
          <a:solidFill>
            <a:srgbClr val="0F307F"/>
          </a:solidFill>
          <a:ln/>
        </p:spPr>
      </p:sp>
      <p:sp>
        <p:nvSpPr>
          <p:cNvPr id="9" name="Text 7"/>
          <p:cNvSpPr/>
          <p:nvPr/>
        </p:nvSpPr>
        <p:spPr>
          <a:xfrm>
            <a:off x="4617720" y="2194560"/>
            <a:ext cx="2971800" cy="8229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Citation</a:t>
            </a:r>
            <a:endParaRPr lang="en-US" sz="1800" dirty="0"/>
          </a:p>
          <a:p>
            <a:pPr marL="0" indent="0">
              <a:buNone/>
            </a:pPr>
            <a:r>
              <a:rPr lang="en-US" sz="1800" b="1" dirty="0">
                <a:solidFill>
                  <a:srgbClr val="FFFFFF"/>
                </a:solidFill>
                <a:latin typeface="Cambria" pitchFamily="34" charset="0"/>
                <a:ea typeface="Cambria" pitchFamily="34" charset="-122"/>
                <a:cs typeface="Cambria" pitchFamily="34" charset="-120"/>
              </a:rPr>
              <a:t>Accuracy</a:t>
            </a:r>
            <a:endParaRPr lang="en-US" sz="1800" dirty="0"/>
          </a:p>
        </p:txBody>
      </p:sp>
      <p:sp>
        <p:nvSpPr>
          <p:cNvPr id="10" name="Text 8"/>
          <p:cNvSpPr/>
          <p:nvPr/>
        </p:nvSpPr>
        <p:spPr>
          <a:xfrm>
            <a:off x="4617720" y="3108960"/>
            <a:ext cx="2971800" cy="1188720"/>
          </a:xfrm>
          <a:prstGeom prst="rect">
            <a:avLst/>
          </a:prstGeom>
          <a:noFill/>
          <a:ln/>
        </p:spPr>
        <p:txBody>
          <a:bodyPr wrap="square" lIns="0" tIns="0" rIns="0" bIns="0" rtlCol="0" anchor="t"/>
          <a:lstStyle/>
          <a:p>
            <a:pPr marL="0" indent="0">
              <a:buNone/>
            </a:pPr>
            <a:r>
              <a:rPr lang="en-US" sz="1250" dirty="0">
                <a:solidFill>
                  <a:srgbClr val="AFC6EF"/>
                </a:solidFill>
                <a:latin typeface="Calibri" pitchFamily="34" charset="0"/>
                <a:ea typeface="Calibri" pitchFamily="34" charset="-122"/>
                <a:cs typeface="Calibri" pitchFamily="34" charset="-120"/>
              </a:rPr>
              <a:t>Does the citation match a real, correct source location?</a:t>
            </a:r>
            <a:endParaRPr lang="en-US" sz="1250" dirty="0"/>
          </a:p>
        </p:txBody>
      </p:sp>
      <p:sp>
        <p:nvSpPr>
          <p:cNvPr id="11" name="Text 9"/>
          <p:cNvSpPr/>
          <p:nvPr/>
        </p:nvSpPr>
        <p:spPr>
          <a:xfrm>
            <a:off x="4617720" y="4709160"/>
            <a:ext cx="2971800" cy="365760"/>
          </a:xfrm>
          <a:prstGeom prst="rect">
            <a:avLst/>
          </a:prstGeom>
          <a:noFill/>
          <a:ln/>
        </p:spPr>
        <p:txBody>
          <a:bodyPr wrap="square" lIns="0" tIns="0" rIns="0" bIns="0" rtlCol="0" anchor="ctr"/>
          <a:lstStyle/>
          <a:p>
            <a:pPr marL="0" indent="0">
              <a:buNone/>
            </a:pPr>
            <a:r>
              <a:rPr lang="en-US" sz="1000" b="1" dirty="0">
                <a:solidFill>
                  <a:srgbClr val="00C7FF"/>
                </a:solidFill>
                <a:latin typeface="Calibri" pitchFamily="34" charset="0"/>
                <a:ea typeface="Calibri" pitchFamily="34" charset="-122"/>
                <a:cs typeface="Calibri" pitchFamily="34" charset="-120"/>
              </a:rPr>
              <a:t>NEW FOR TODAY</a:t>
            </a:r>
            <a:endParaRPr lang="en-US" sz="1000" dirty="0"/>
          </a:p>
        </p:txBody>
      </p:sp>
      <p:sp>
        <p:nvSpPr>
          <p:cNvPr id="12" name="Shape 10"/>
          <p:cNvSpPr/>
          <p:nvPr/>
        </p:nvSpPr>
        <p:spPr>
          <a:xfrm>
            <a:off x="8138160" y="1920240"/>
            <a:ext cx="3520440" cy="3383280"/>
          </a:xfrm>
          <a:prstGeom prst="roundRect">
            <a:avLst>
              <a:gd name="adj" fmla="val 2162"/>
            </a:avLst>
          </a:prstGeom>
          <a:solidFill>
            <a:srgbClr val="F1F5FC"/>
          </a:solidFill>
          <a:ln w="12700">
            <a:solidFill>
              <a:srgbClr val="DCE6F7"/>
            </a:solidFill>
            <a:prstDash val="solid"/>
          </a:ln>
        </p:spPr>
      </p:sp>
      <p:sp>
        <p:nvSpPr>
          <p:cNvPr id="13" name="Text 11"/>
          <p:cNvSpPr/>
          <p:nvPr/>
        </p:nvSpPr>
        <p:spPr>
          <a:xfrm>
            <a:off x="8412480" y="2194560"/>
            <a:ext cx="2971800" cy="822960"/>
          </a:xfrm>
          <a:prstGeom prst="rect">
            <a:avLst/>
          </a:prstGeom>
          <a:noFill/>
          <a:ln/>
        </p:spPr>
        <p:txBody>
          <a:bodyPr wrap="square" lIns="0" tIns="0" rIns="0" bIns="0" rtlCol="0" anchor="ctr"/>
          <a:lstStyle/>
          <a:p>
            <a:pPr marL="0" indent="0">
              <a:buNone/>
            </a:pPr>
            <a:r>
              <a:rPr lang="en-US" sz="1800" b="1" dirty="0">
                <a:solidFill>
                  <a:srgbClr val="0F307F"/>
                </a:solidFill>
                <a:latin typeface="Cambria" pitchFamily="34" charset="0"/>
                <a:ea typeface="Cambria" pitchFamily="34" charset="-122"/>
                <a:cs typeface="Cambria" pitchFamily="34" charset="-120"/>
              </a:rPr>
              <a:t>Faithfulness</a:t>
            </a:r>
            <a:endParaRPr lang="en-US" sz="1800" dirty="0"/>
          </a:p>
        </p:txBody>
      </p:sp>
      <p:sp>
        <p:nvSpPr>
          <p:cNvPr id="14" name="Text 12"/>
          <p:cNvSpPr/>
          <p:nvPr/>
        </p:nvSpPr>
        <p:spPr>
          <a:xfrm>
            <a:off x="8412480" y="3108960"/>
            <a:ext cx="2971800" cy="1188720"/>
          </a:xfrm>
          <a:prstGeom prst="rect">
            <a:avLst/>
          </a:prstGeom>
          <a:noFill/>
          <a:ln/>
        </p:spPr>
        <p:txBody>
          <a:bodyPr wrap="square" lIns="0" tIns="0" rIns="0" bIns="0" rtlCol="0" anchor="t"/>
          <a:lstStyle/>
          <a:p>
            <a:pPr marL="0" indent="0">
              <a:buNone/>
            </a:pPr>
            <a:r>
              <a:rPr lang="en-US" sz="1250" dirty="0">
                <a:solidFill>
                  <a:srgbClr val="2A2A2A"/>
                </a:solidFill>
                <a:latin typeface="Calibri" pitchFamily="34" charset="0"/>
                <a:ea typeface="Calibri" pitchFamily="34" charset="-122"/>
                <a:cs typeface="Calibri" pitchFamily="34" charset="-120"/>
              </a:rPr>
              <a:t>Does the answer contain only facts present in the retrieved text?</a:t>
            </a:r>
            <a:endParaRPr lang="en-US" sz="1250" dirty="0"/>
          </a:p>
        </p:txBody>
      </p:sp>
      <p:sp>
        <p:nvSpPr>
          <p:cNvPr id="15" name="Text 13"/>
          <p:cNvSpPr/>
          <p:nvPr/>
        </p:nvSpPr>
        <p:spPr>
          <a:xfrm>
            <a:off x="8412480" y="4709160"/>
            <a:ext cx="2971800" cy="365760"/>
          </a:xfrm>
          <a:prstGeom prst="rect">
            <a:avLst/>
          </a:prstGeom>
          <a:noFill/>
          <a:ln/>
        </p:spPr>
        <p:txBody>
          <a:bodyPr wrap="square" lIns="0" tIns="0" rIns="0" bIns="0" rtlCol="0" anchor="ctr"/>
          <a:lstStyle/>
          <a:p>
            <a:pPr marL="0" indent="0">
              <a:buNone/>
            </a:pPr>
            <a:r>
              <a:rPr lang="en-US" sz="1000" b="1" dirty="0">
                <a:solidFill>
                  <a:srgbClr val="0F307F"/>
                </a:solidFill>
                <a:latin typeface="Calibri" pitchFamily="34" charset="0"/>
                <a:ea typeface="Calibri" pitchFamily="34" charset="-122"/>
                <a:cs typeface="Calibri" pitchFamily="34" charset="-120"/>
              </a:rPr>
              <a:t>NEW FOR TODAY</a:t>
            </a:r>
            <a:endParaRPr lang="en-US" sz="1000" dirty="0"/>
          </a:p>
        </p:txBody>
      </p:sp>
      <p:pic>
        <p:nvPicPr>
          <p:cNvPr id="16"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17" name="Text 14"/>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18" name="Text 15"/>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12</a:t>
            </a:r>
            <a:endParaRPr lang="en-US" sz="900" dirty="0"/>
          </a:p>
        </p:txBody>
      </p:sp>
      <p:pic>
        <p:nvPicPr>
          <p:cNvPr id="19" name="Google Shape;90;p1">
            <a:extLst>
              <a:ext uri="{FF2B5EF4-FFF2-40B4-BE49-F238E27FC236}">
                <a16:creationId xmlns:a16="http://schemas.microsoft.com/office/drawing/2014/main" id="{8EF54917-EB0F-4B20-A783-F17AEA84B8FB}"/>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2 — METRIC DEEP DIVE</a:t>
            </a:r>
            <a:endParaRPr lang="en-US" sz="1200" dirty="0"/>
          </a:p>
        </p:txBody>
      </p:sp>
      <p:sp>
        <p:nvSpPr>
          <p:cNvPr id="3" name="Text 1"/>
          <p:cNvSpPr/>
          <p:nvPr/>
        </p:nvSpPr>
        <p:spPr>
          <a:xfrm>
            <a:off x="548640" y="868680"/>
            <a:ext cx="91440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Scoring Citation Accuracy</a:t>
            </a:r>
            <a:endParaRPr lang="en-US" sz="3200" dirty="0"/>
          </a:p>
        </p:txBody>
      </p:sp>
      <p:sp>
        <p:nvSpPr>
          <p:cNvPr id="4" name="Shape 2"/>
          <p:cNvSpPr/>
          <p:nvPr/>
        </p:nvSpPr>
        <p:spPr>
          <a:xfrm>
            <a:off x="548640" y="1828800"/>
            <a:ext cx="10881360" cy="1051560"/>
          </a:xfrm>
          <a:prstGeom prst="roundRect">
            <a:avLst>
              <a:gd name="adj" fmla="val 6957"/>
            </a:avLst>
          </a:prstGeom>
          <a:solidFill>
            <a:srgbClr val="0F307F"/>
          </a:solidFill>
          <a:ln/>
        </p:spPr>
      </p:sp>
      <p:sp>
        <p:nvSpPr>
          <p:cNvPr id="5" name="Text 3"/>
          <p:cNvSpPr/>
          <p:nvPr/>
        </p:nvSpPr>
        <p:spPr>
          <a:xfrm>
            <a:off x="914400" y="1828800"/>
            <a:ext cx="10149840" cy="105156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Citation Accuracy  =  (correct citations)  ÷  (total citations given)</a:t>
            </a:r>
            <a:endParaRPr lang="en-US" sz="2100" dirty="0"/>
          </a:p>
        </p:txBody>
      </p:sp>
      <p:sp>
        <p:nvSpPr>
          <p:cNvPr id="6" name="Text 4"/>
          <p:cNvSpPr/>
          <p:nvPr/>
        </p:nvSpPr>
        <p:spPr>
          <a:xfrm>
            <a:off x="548640" y="3108960"/>
            <a:ext cx="10241280" cy="365760"/>
          </a:xfrm>
          <a:prstGeom prst="rect">
            <a:avLst/>
          </a:prstGeom>
          <a:noFill/>
          <a:ln/>
        </p:spPr>
        <p:txBody>
          <a:bodyPr wrap="square" lIns="0" tIns="0" rIns="0" bIns="0" rtlCol="0" anchor="ctr"/>
          <a:lstStyle/>
          <a:p>
            <a:pPr marL="0" indent="0">
              <a:buNone/>
            </a:pPr>
            <a:r>
              <a:rPr lang="en-US" sz="1450" b="1" dirty="0">
                <a:solidFill>
                  <a:srgbClr val="111111"/>
                </a:solidFill>
                <a:latin typeface="Calibri" pitchFamily="34" charset="0"/>
                <a:ea typeface="Calibri" pitchFamily="34" charset="-122"/>
                <a:cs typeface="Calibri" pitchFamily="34" charset="-120"/>
              </a:rPr>
              <a:t>A citation is “correct” only if all three hold:</a:t>
            </a:r>
            <a:endParaRPr lang="en-US" sz="1450" dirty="0"/>
          </a:p>
        </p:txBody>
      </p:sp>
      <p:sp>
        <p:nvSpPr>
          <p:cNvPr id="7" name="Text 5"/>
          <p:cNvSpPr/>
          <p:nvPr/>
        </p:nvSpPr>
        <p:spPr>
          <a:xfrm>
            <a:off x="548640" y="3566160"/>
            <a:ext cx="320040" cy="365760"/>
          </a:xfrm>
          <a:prstGeom prst="rect">
            <a:avLst/>
          </a:prstGeom>
          <a:noFill/>
          <a:ln/>
        </p:spPr>
        <p:txBody>
          <a:bodyPr wrap="square" lIns="0" tIns="0" rIns="0" bIns="0" rtlCol="0" anchor="ctr"/>
          <a:lstStyle/>
          <a:p>
            <a:pPr marL="0" indent="0">
              <a:buNone/>
            </a:pPr>
            <a:r>
              <a:rPr lang="en-US" sz="1400" b="1" dirty="0">
                <a:solidFill>
                  <a:srgbClr val="1E7F4E"/>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914400" y="3566160"/>
            <a:ext cx="9875520" cy="365760"/>
          </a:xfrm>
          <a:prstGeom prst="rect">
            <a:avLst/>
          </a:prstGeom>
          <a:noFill/>
          <a:ln/>
        </p:spPr>
        <p:txBody>
          <a:bodyPr wrap="square" lIns="0" tIns="0" rIns="0" bIns="0" rtlCol="0" anchor="ctr"/>
          <a:lstStyle/>
          <a:p>
            <a:pPr marL="0" indent="0">
              <a:buNone/>
            </a:pPr>
            <a:r>
              <a:rPr lang="en-US" sz="1400" dirty="0">
                <a:solidFill>
                  <a:srgbClr val="2A2A2A"/>
                </a:solidFill>
                <a:latin typeface="Calibri" pitchFamily="34" charset="0"/>
                <a:ea typeface="Calibri" pitchFamily="34" charset="-122"/>
                <a:cs typeface="Calibri" pitchFamily="34" charset="-120"/>
              </a:rPr>
              <a:t>The document name actually exists in your source library</a:t>
            </a:r>
            <a:endParaRPr lang="en-US" sz="1400" dirty="0"/>
          </a:p>
        </p:txBody>
      </p:sp>
      <p:sp>
        <p:nvSpPr>
          <p:cNvPr id="9" name="Text 7"/>
          <p:cNvSpPr/>
          <p:nvPr/>
        </p:nvSpPr>
        <p:spPr>
          <a:xfrm>
            <a:off x="548640" y="4023360"/>
            <a:ext cx="320040" cy="365760"/>
          </a:xfrm>
          <a:prstGeom prst="rect">
            <a:avLst/>
          </a:prstGeom>
          <a:noFill/>
          <a:ln/>
        </p:spPr>
        <p:txBody>
          <a:bodyPr wrap="square" lIns="0" tIns="0" rIns="0" bIns="0" rtlCol="0" anchor="ctr"/>
          <a:lstStyle/>
          <a:p>
            <a:pPr marL="0" indent="0">
              <a:buNone/>
            </a:pPr>
            <a:r>
              <a:rPr lang="en-US" sz="1400" b="1" dirty="0">
                <a:solidFill>
                  <a:srgbClr val="1E7F4E"/>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914400" y="4023360"/>
            <a:ext cx="9875520" cy="365760"/>
          </a:xfrm>
          <a:prstGeom prst="rect">
            <a:avLst/>
          </a:prstGeom>
          <a:noFill/>
          <a:ln/>
        </p:spPr>
        <p:txBody>
          <a:bodyPr wrap="square" lIns="0" tIns="0" rIns="0" bIns="0" rtlCol="0" anchor="ctr"/>
          <a:lstStyle/>
          <a:p>
            <a:pPr marL="0" indent="0">
              <a:buNone/>
            </a:pPr>
            <a:r>
              <a:rPr lang="en-US" sz="1400" dirty="0">
                <a:solidFill>
                  <a:srgbClr val="2A2A2A"/>
                </a:solidFill>
                <a:latin typeface="Calibri" pitchFamily="34" charset="0"/>
                <a:ea typeface="Calibri" pitchFamily="34" charset="-122"/>
                <a:cs typeface="Calibri" pitchFamily="34" charset="-120"/>
              </a:rPr>
              <a:t>The section and page number are accurate</a:t>
            </a:r>
            <a:endParaRPr lang="en-US" sz="1400" dirty="0"/>
          </a:p>
        </p:txBody>
      </p:sp>
      <p:sp>
        <p:nvSpPr>
          <p:cNvPr id="11" name="Text 9"/>
          <p:cNvSpPr/>
          <p:nvPr/>
        </p:nvSpPr>
        <p:spPr>
          <a:xfrm>
            <a:off x="548640" y="4480560"/>
            <a:ext cx="320040" cy="365760"/>
          </a:xfrm>
          <a:prstGeom prst="rect">
            <a:avLst/>
          </a:prstGeom>
          <a:noFill/>
          <a:ln/>
        </p:spPr>
        <p:txBody>
          <a:bodyPr wrap="square" lIns="0" tIns="0" rIns="0" bIns="0" rtlCol="0" anchor="ctr"/>
          <a:lstStyle/>
          <a:p>
            <a:pPr marL="0" indent="0">
              <a:buNone/>
            </a:pPr>
            <a:r>
              <a:rPr lang="en-US" sz="1400" b="1" dirty="0">
                <a:solidFill>
                  <a:srgbClr val="1E7F4E"/>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914400" y="4480560"/>
            <a:ext cx="9875520" cy="365760"/>
          </a:xfrm>
          <a:prstGeom prst="rect">
            <a:avLst/>
          </a:prstGeom>
          <a:noFill/>
          <a:ln/>
        </p:spPr>
        <p:txBody>
          <a:bodyPr wrap="square" lIns="0" tIns="0" rIns="0" bIns="0" rtlCol="0" anchor="ctr"/>
          <a:lstStyle/>
          <a:p>
            <a:pPr marL="0" indent="0">
              <a:buNone/>
            </a:pPr>
            <a:r>
              <a:rPr lang="en-US" sz="1400" dirty="0">
                <a:solidFill>
                  <a:srgbClr val="2A2A2A"/>
                </a:solidFill>
                <a:latin typeface="Calibri" pitchFamily="34" charset="0"/>
                <a:ea typeface="Calibri" pitchFamily="34" charset="-122"/>
                <a:cs typeface="Calibri" pitchFamily="34" charset="-120"/>
              </a:rPr>
              <a:t>The cited text genuinely supports the claim it's attached to</a:t>
            </a:r>
            <a:endParaRPr lang="en-US" sz="1400" dirty="0"/>
          </a:p>
        </p:txBody>
      </p:sp>
      <p:pic>
        <p:nvPicPr>
          <p:cNvPr id="13"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14" name="Text 11"/>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15" name="Text 12"/>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13</a:t>
            </a:r>
            <a:endParaRPr lang="en-US" sz="900" dirty="0"/>
          </a:p>
        </p:txBody>
      </p:sp>
      <p:pic>
        <p:nvPicPr>
          <p:cNvPr id="16" name="Google Shape;90;p1">
            <a:extLst>
              <a:ext uri="{FF2B5EF4-FFF2-40B4-BE49-F238E27FC236}">
                <a16:creationId xmlns:a16="http://schemas.microsoft.com/office/drawing/2014/main" id="{99216408-D16C-4F46-B39E-6B770BF6B9EB}"/>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2 — METRIC DEEP DIVE</a:t>
            </a:r>
            <a:endParaRPr lang="en-US" sz="1200" dirty="0"/>
          </a:p>
        </p:txBody>
      </p:sp>
      <p:sp>
        <p:nvSpPr>
          <p:cNvPr id="3" name="Text 1"/>
          <p:cNvSpPr/>
          <p:nvPr/>
        </p:nvSpPr>
        <p:spPr>
          <a:xfrm>
            <a:off x="548640" y="868680"/>
            <a:ext cx="91440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Scoring Faithfulness</a:t>
            </a:r>
            <a:endParaRPr lang="en-US" sz="3200" dirty="0"/>
          </a:p>
        </p:txBody>
      </p:sp>
      <p:sp>
        <p:nvSpPr>
          <p:cNvPr id="4" name="Shape 2"/>
          <p:cNvSpPr/>
          <p:nvPr/>
        </p:nvSpPr>
        <p:spPr>
          <a:xfrm>
            <a:off x="548640" y="1828800"/>
            <a:ext cx="10881360" cy="1051560"/>
          </a:xfrm>
          <a:prstGeom prst="roundRect">
            <a:avLst>
              <a:gd name="adj" fmla="val 6957"/>
            </a:avLst>
          </a:prstGeom>
          <a:solidFill>
            <a:srgbClr val="0F307F"/>
          </a:solidFill>
          <a:ln/>
        </p:spPr>
      </p:sp>
      <p:sp>
        <p:nvSpPr>
          <p:cNvPr id="5" name="Text 3"/>
          <p:cNvSpPr/>
          <p:nvPr/>
        </p:nvSpPr>
        <p:spPr>
          <a:xfrm>
            <a:off x="914400" y="1828800"/>
            <a:ext cx="10149840" cy="105156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Faithfulness  =  (claims supported by retrieved text)  ÷  (total claims made)</a:t>
            </a:r>
            <a:endParaRPr lang="en-US" sz="1900" dirty="0"/>
          </a:p>
        </p:txBody>
      </p:sp>
      <p:sp>
        <p:nvSpPr>
          <p:cNvPr id="6" name="Text 4"/>
          <p:cNvSpPr/>
          <p:nvPr/>
        </p:nvSpPr>
        <p:spPr>
          <a:xfrm>
            <a:off x="548640" y="3154680"/>
            <a:ext cx="10241280" cy="822960"/>
          </a:xfrm>
          <a:prstGeom prst="rect">
            <a:avLst/>
          </a:prstGeom>
          <a:noFill/>
          <a:ln/>
        </p:spPr>
        <p:txBody>
          <a:bodyPr wrap="square" lIns="0" tIns="0" rIns="0" bIns="0" rtlCol="0" anchor="ctr"/>
          <a:lstStyle/>
          <a:p>
            <a:pPr marL="0" indent="0">
              <a:buNone/>
            </a:pPr>
            <a:r>
              <a:rPr lang="en-US" sz="1450" dirty="0">
                <a:solidFill>
                  <a:srgbClr val="2A2A2A"/>
                </a:solidFill>
                <a:latin typeface="Calibri" pitchFamily="34" charset="0"/>
                <a:ea typeface="Calibri" pitchFamily="34" charset="-122"/>
                <a:cs typeface="Calibri" pitchFamily="34" charset="-120"/>
              </a:rPr>
              <a:t>This is the metric most directly tied to hallucination. A faithfulness score below 1.0 means your system said something the evidence didn't actually support — even if the citation format looked perfect.</a:t>
            </a:r>
            <a:endParaRPr lang="en-US" sz="1450" dirty="0"/>
          </a:p>
        </p:txBody>
      </p:sp>
      <p:sp>
        <p:nvSpPr>
          <p:cNvPr id="7" name="Text 5"/>
          <p:cNvSpPr/>
          <p:nvPr/>
        </p:nvSpPr>
        <p:spPr>
          <a:xfrm>
            <a:off x="548640" y="4160520"/>
            <a:ext cx="10241280" cy="365760"/>
          </a:xfrm>
          <a:prstGeom prst="rect">
            <a:avLst/>
          </a:prstGeom>
          <a:noFill/>
          <a:ln/>
        </p:spPr>
        <p:txBody>
          <a:bodyPr wrap="square" lIns="0" tIns="0" rIns="0" bIns="0" rtlCol="0" anchor="ctr"/>
          <a:lstStyle/>
          <a:p>
            <a:pPr marL="0" indent="0">
              <a:buNone/>
            </a:pPr>
            <a:r>
              <a:rPr lang="en-US" sz="1400" b="1" dirty="0">
                <a:solidFill>
                  <a:srgbClr val="0F307F"/>
                </a:solidFill>
                <a:latin typeface="Calibri" pitchFamily="34" charset="0"/>
                <a:ea typeface="Calibri" pitchFamily="34" charset="-122"/>
                <a:cs typeface="Calibri" pitchFamily="34" charset="-120"/>
              </a:rPr>
              <a:t>Target for today: 0.9+ faithfulness across your full test set.</a:t>
            </a:r>
            <a:endParaRPr lang="en-US" sz="1400" dirty="0"/>
          </a:p>
        </p:txBody>
      </p:sp>
      <p:pic>
        <p:nvPicPr>
          <p:cNvPr id="8"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9" name="Text 6"/>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10" name="Text 7"/>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14</a:t>
            </a:r>
            <a:endParaRPr lang="en-US" sz="900" dirty="0"/>
          </a:p>
        </p:txBody>
      </p:sp>
      <p:pic>
        <p:nvPicPr>
          <p:cNvPr id="11" name="Google Shape;90;p1">
            <a:extLst>
              <a:ext uri="{FF2B5EF4-FFF2-40B4-BE49-F238E27FC236}">
                <a16:creationId xmlns:a16="http://schemas.microsoft.com/office/drawing/2014/main" id="{BB8E9DB0-CD13-45A8-BDC8-B22D75FE342D}"/>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2 — BRING IT TOGETHER</a:t>
            </a:r>
            <a:endParaRPr lang="en-US" sz="1200" dirty="0"/>
          </a:p>
        </p:txBody>
      </p:sp>
      <p:sp>
        <p:nvSpPr>
          <p:cNvPr id="3" name="Text 1"/>
          <p:cNvSpPr/>
          <p:nvPr/>
        </p:nvSpPr>
        <p:spPr>
          <a:xfrm>
            <a:off x="548640" y="868680"/>
            <a:ext cx="96012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Your Evaluation Log Template</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2286000"/>
        </p:xfrm>
        <a:graphic>
          <a:graphicData uri="http://schemas.openxmlformats.org/drawingml/2006/table">
            <a:tbl>
              <a:tblPr/>
              <a:tblGrid>
                <a:gridCol w="4663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715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Query</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0F307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Precision@5</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0F307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Citation Acc.</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0F307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Faithfulness</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0F307F"/>
                    </a:solidFill>
                  </a:tcPr>
                </a:tc>
                <a:extLst>
                  <a:ext uri="{0D108BD9-81ED-4DB2-BD59-A6C34878D82A}">
                    <a16:rowId xmlns:a16="http://schemas.microsoft.com/office/drawing/2014/main" val="10000"/>
                  </a:ext>
                </a:extLst>
              </a:tr>
              <a:tr h="571500">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Screening interval for breast cancer</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500">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First-line hypertension treatment</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1F5FC"/>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1F5FC"/>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1F5FC"/>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1F5FC"/>
                    </a:solidFill>
                  </a:tcPr>
                </a:tc>
                <a:extLst>
                  <a:ext uri="{0D108BD9-81ED-4DB2-BD59-A6C34878D82A}">
                    <a16:rowId xmlns:a16="http://schemas.microsoft.com/office/drawing/2014/main" val="10002"/>
                  </a:ext>
                </a:extLst>
              </a:tr>
              <a:tr h="571500">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Out-of-scope question (refusal test)</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N/A — refused correctly</a:t>
                      </a:r>
                      <a:endParaRPr lang="en-US" sz="1200" dirty="0">
                        <a:latin typeface="Calibri" charset="0"/>
                        <a:ea typeface="Calibri" charset="0"/>
                        <a:cs typeface="Calibri" charset="0"/>
                      </a:endParaRPr>
                    </a:p>
                  </a:txBody>
                  <a:tcPr marT="54864" marB="54864"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48640" y="4343400"/>
            <a:ext cx="10698480" cy="457200"/>
          </a:xfrm>
          <a:prstGeom prst="rect">
            <a:avLst/>
          </a:prstGeom>
          <a:noFill/>
          <a:ln/>
        </p:spPr>
        <p:txBody>
          <a:bodyPr wrap="square" lIns="0" tIns="0" rIns="0" bIns="0" rtlCol="0" anchor="ctr"/>
          <a:lstStyle/>
          <a:p>
            <a:pPr marL="0" indent="0">
              <a:buNone/>
            </a:pPr>
            <a:r>
              <a:rPr lang="en-US" sz="1250" i="1" dirty="0">
                <a:solidFill>
                  <a:srgbClr val="5A6472"/>
                </a:solidFill>
                <a:latin typeface="Calibri" pitchFamily="34" charset="0"/>
                <a:ea typeface="Calibri" pitchFamily="34" charset="-122"/>
                <a:cs typeface="Calibri" pitchFamily="34" charset="-120"/>
              </a:rPr>
              <a:t>Sample data for illustration — average these across your whole test set for the numbers you'll present Friday.</a:t>
            </a:r>
            <a:endParaRPr lang="en-US" sz="1250" dirty="0"/>
          </a:p>
        </p:txBody>
      </p:sp>
      <p:pic>
        <p:nvPicPr>
          <p:cNvPr id="6"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7" name="Text 3"/>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8" name="Text 4"/>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15</a:t>
            </a:r>
            <a:endParaRPr lang="en-US" sz="900" dirty="0"/>
          </a:p>
        </p:txBody>
      </p:sp>
      <p:pic>
        <p:nvPicPr>
          <p:cNvPr id="9" name="Google Shape;90;p1">
            <a:extLst>
              <a:ext uri="{FF2B5EF4-FFF2-40B4-BE49-F238E27FC236}">
                <a16:creationId xmlns:a16="http://schemas.microsoft.com/office/drawing/2014/main" id="{997A6251-9332-4D94-9AD3-9FA8157A0597}"/>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F307F"/>
        </a:solidFill>
        <a:effectLst/>
      </p:bgPr>
    </p:bg>
    <p:spTree>
      <p:nvGrpSpPr>
        <p:cNvPr id="1" name=""/>
        <p:cNvGrpSpPr/>
        <p:nvPr/>
      </p:nvGrpSpPr>
      <p:grpSpPr>
        <a:xfrm>
          <a:off x="0" y="0"/>
          <a:ext cx="0" cy="0"/>
          <a:chOff x="0" y="0"/>
          <a:chExt cx="0" cy="0"/>
        </a:xfrm>
      </p:grpSpPr>
      <p:sp>
        <p:nvSpPr>
          <p:cNvPr id="2" name="Text 0"/>
          <p:cNvSpPr/>
          <p:nvPr/>
        </p:nvSpPr>
        <p:spPr>
          <a:xfrm>
            <a:off x="1280160" y="2286000"/>
            <a:ext cx="457200" cy="1371600"/>
          </a:xfrm>
          <a:prstGeom prst="rect">
            <a:avLst/>
          </a:prstGeom>
          <a:noFill/>
          <a:ln/>
        </p:spPr>
        <p:txBody>
          <a:bodyPr wrap="square" lIns="0" tIns="0" rIns="0" bIns="0" rtlCol="0" anchor="ctr"/>
          <a:lstStyle/>
          <a:p>
            <a:pPr marL="0" indent="0" algn="l">
              <a:buNone/>
            </a:pPr>
            <a:r>
              <a:rPr lang="en-US" sz="6600" b="1" dirty="0">
                <a:solidFill>
                  <a:srgbClr val="00C7FF"/>
                </a:solidFill>
                <a:latin typeface="Cambria" pitchFamily="34" charset="0"/>
                <a:ea typeface="Cambria" pitchFamily="34" charset="-122"/>
                <a:cs typeface="Cambria" pitchFamily="34" charset="-120"/>
              </a:rPr>
              <a:t>[</a:t>
            </a:r>
            <a:endParaRPr lang="en-US" sz="6600" dirty="0"/>
          </a:p>
        </p:txBody>
      </p:sp>
      <p:sp>
        <p:nvSpPr>
          <p:cNvPr id="3" name="Text 1"/>
          <p:cNvSpPr/>
          <p:nvPr/>
        </p:nvSpPr>
        <p:spPr>
          <a:xfrm>
            <a:off x="10451592" y="2286000"/>
            <a:ext cx="457200" cy="1371600"/>
          </a:xfrm>
          <a:prstGeom prst="rect">
            <a:avLst/>
          </a:prstGeom>
          <a:noFill/>
          <a:ln/>
        </p:spPr>
        <p:txBody>
          <a:bodyPr wrap="square" lIns="0" tIns="0" rIns="0" bIns="0" rtlCol="0" anchor="ctr"/>
          <a:lstStyle/>
          <a:p>
            <a:pPr marL="0" indent="0" algn="r">
              <a:buNone/>
            </a:pPr>
            <a:r>
              <a:rPr lang="en-US" sz="6600" b="1" dirty="0">
                <a:solidFill>
                  <a:srgbClr val="00C7FF"/>
                </a:solidFill>
                <a:latin typeface="Cambria" pitchFamily="34" charset="0"/>
                <a:ea typeface="Cambria" pitchFamily="34" charset="-122"/>
                <a:cs typeface="Cambria" pitchFamily="34" charset="-120"/>
              </a:rPr>
              <a:t>]</a:t>
            </a:r>
            <a:endParaRPr lang="en-US" sz="6600" dirty="0"/>
          </a:p>
        </p:txBody>
      </p:sp>
      <p:sp>
        <p:nvSpPr>
          <p:cNvPr id="4" name="Text 2"/>
          <p:cNvSpPr/>
          <p:nvPr/>
        </p:nvSpPr>
        <p:spPr>
          <a:xfrm>
            <a:off x="1280160" y="2423160"/>
            <a:ext cx="9628632" cy="457200"/>
          </a:xfrm>
          <a:prstGeom prst="rect">
            <a:avLst/>
          </a:prstGeom>
          <a:noFill/>
          <a:ln/>
        </p:spPr>
        <p:txBody>
          <a:bodyPr wrap="square" lIns="0" tIns="0" rIns="0" bIns="0" rtlCol="0" anchor="ctr"/>
          <a:lstStyle/>
          <a:p>
            <a:pPr marL="0" indent="0" algn="ctr">
              <a:buNone/>
            </a:pPr>
            <a:r>
              <a:rPr lang="en-US" sz="1500" b="1" kern="0" spc="300" dirty="0">
                <a:solidFill>
                  <a:srgbClr val="00C7FF"/>
                </a:solidFill>
                <a:latin typeface="Calibri" pitchFamily="34" charset="0"/>
                <a:ea typeface="Calibri" pitchFamily="34" charset="-122"/>
                <a:cs typeface="Calibri" pitchFamily="34" charset="-120"/>
              </a:rPr>
              <a:t>MODULE 3</a:t>
            </a:r>
            <a:endParaRPr lang="en-US" sz="1500" dirty="0"/>
          </a:p>
        </p:txBody>
      </p:sp>
      <p:sp>
        <p:nvSpPr>
          <p:cNvPr id="5" name="Text 3"/>
          <p:cNvSpPr/>
          <p:nvPr/>
        </p:nvSpPr>
        <p:spPr>
          <a:xfrm>
            <a:off x="1280160" y="2880360"/>
            <a:ext cx="9628632"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Responsible AI &amp; Clinical Safety</a:t>
            </a:r>
            <a:endParaRPr lang="en-US" sz="3800" dirty="0"/>
          </a:p>
        </p:txBody>
      </p:sp>
      <p:sp>
        <p:nvSpPr>
          <p:cNvPr id="6" name="Text 4"/>
          <p:cNvSpPr/>
          <p:nvPr/>
        </p:nvSpPr>
        <p:spPr>
          <a:xfrm>
            <a:off x="2194560" y="3931920"/>
            <a:ext cx="7799832" cy="548640"/>
          </a:xfrm>
          <a:prstGeom prst="rect">
            <a:avLst/>
          </a:prstGeom>
          <a:noFill/>
          <a:ln/>
        </p:spPr>
        <p:txBody>
          <a:bodyPr wrap="square" lIns="0" tIns="0" rIns="0" bIns="0" rtlCol="0" anchor="ctr"/>
          <a:lstStyle/>
          <a:p>
            <a:pPr marL="0" indent="0" algn="ctr">
              <a:buNone/>
            </a:pPr>
            <a:r>
              <a:rPr lang="en-US" sz="1400" dirty="0">
                <a:solidFill>
                  <a:srgbClr val="AFC6EF"/>
                </a:solidFill>
                <a:latin typeface="Calibri" pitchFamily="34" charset="0"/>
                <a:ea typeface="Calibri" pitchFamily="34" charset="-122"/>
                <a:cs typeface="Calibri" pitchFamily="34" charset="-120"/>
              </a:rPr>
              <a:t>Building a system worthy of the trust it asks for</a:t>
            </a:r>
            <a:endParaRPr lang="en-US" sz="1400" dirty="0"/>
          </a:p>
        </p:txBody>
      </p:sp>
      <p:pic>
        <p:nvPicPr>
          <p:cNvPr id="7" name="Image 0" descr="/home/claude/day4deck/logo_dark.jpg"/>
          <p:cNvPicPr>
            <a:picLocks noChangeAspect="1"/>
          </p:cNvPicPr>
          <p:nvPr/>
        </p:nvPicPr>
        <p:blipFill>
          <a:blip r:embed="rId3"/>
          <a:stretch>
            <a:fillRect/>
          </a:stretch>
        </p:blipFill>
        <p:spPr>
          <a:xfrm>
            <a:off x="457200" y="6291072"/>
            <a:ext cx="384048" cy="384048"/>
          </a:xfrm>
          <a:prstGeom prst="rect">
            <a:avLst/>
          </a:prstGeom>
        </p:spPr>
      </p:pic>
      <p:sp>
        <p:nvSpPr>
          <p:cNvPr id="8" name="Text 5"/>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AFC6EF"/>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9" name="Text 6"/>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AFC6EF"/>
                </a:solidFill>
                <a:latin typeface="Calibri" pitchFamily="34" charset="0"/>
                <a:ea typeface="Calibri" pitchFamily="34" charset="-122"/>
                <a:cs typeface="Calibri" pitchFamily="34" charset="-120"/>
              </a:rPr>
              <a:t>16</a:t>
            </a:r>
            <a:endParaRPr lang="en-US" sz="900" dirty="0"/>
          </a:p>
        </p:txBody>
      </p:sp>
      <p:pic>
        <p:nvPicPr>
          <p:cNvPr id="10" name="Google Shape;90;p1">
            <a:extLst>
              <a:ext uri="{FF2B5EF4-FFF2-40B4-BE49-F238E27FC236}">
                <a16:creationId xmlns:a16="http://schemas.microsoft.com/office/drawing/2014/main" id="{E25DAA95-1F8D-46E4-9328-D2B42B3B030A}"/>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3 — THE SILENT RISK</a:t>
            </a:r>
            <a:endParaRPr lang="en-US" sz="1200" dirty="0"/>
          </a:p>
        </p:txBody>
      </p:sp>
      <p:sp>
        <p:nvSpPr>
          <p:cNvPr id="3" name="Text 1"/>
          <p:cNvSpPr/>
          <p:nvPr/>
        </p:nvSpPr>
        <p:spPr>
          <a:xfrm>
            <a:off x="548640" y="868680"/>
            <a:ext cx="10058400" cy="73152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The Danger of Being Too Convincing</a:t>
            </a:r>
            <a:endParaRPr lang="en-US" sz="3000" dirty="0"/>
          </a:p>
        </p:txBody>
      </p:sp>
      <p:sp>
        <p:nvSpPr>
          <p:cNvPr id="4" name="Text 2"/>
          <p:cNvSpPr/>
          <p:nvPr/>
        </p:nvSpPr>
        <p:spPr>
          <a:xfrm>
            <a:off x="548640" y="1737360"/>
            <a:ext cx="10241280" cy="1005840"/>
          </a:xfrm>
          <a:prstGeom prst="rect">
            <a:avLst/>
          </a:prstGeom>
          <a:noFill/>
          <a:ln/>
        </p:spPr>
        <p:txBody>
          <a:bodyPr wrap="square" lIns="0" tIns="0" rIns="0" bIns="0" rtlCol="0" anchor="ctr"/>
          <a:lstStyle/>
          <a:p>
            <a:pPr marL="0" indent="0">
              <a:buNone/>
            </a:pPr>
            <a:r>
              <a:rPr lang="en-US" sz="1500" dirty="0">
                <a:solidFill>
                  <a:srgbClr val="2A2A2A"/>
                </a:solidFill>
                <a:latin typeface="Calibri" pitchFamily="34" charset="0"/>
                <a:ea typeface="Calibri" pitchFamily="34" charset="-122"/>
                <a:cs typeface="Calibri" pitchFamily="34" charset="-120"/>
              </a:rPr>
              <a:t>Automation bias is the tendency to trust a system's output simply because it's confident, fast, and well-formatted — even when it's wrong. In clinical settings, a fluent wrong answer can be more dangerous than an obviously broken one.</a:t>
            </a:r>
            <a:endParaRPr lang="en-US" sz="1500" dirty="0"/>
          </a:p>
        </p:txBody>
      </p:sp>
      <p:sp>
        <p:nvSpPr>
          <p:cNvPr id="5" name="Shape 3"/>
          <p:cNvSpPr/>
          <p:nvPr/>
        </p:nvSpPr>
        <p:spPr>
          <a:xfrm>
            <a:off x="548640" y="2926080"/>
            <a:ext cx="10881360" cy="2651760"/>
          </a:xfrm>
          <a:prstGeom prst="roundRect">
            <a:avLst>
              <a:gd name="adj" fmla="val 2759"/>
            </a:avLst>
          </a:prstGeom>
          <a:solidFill>
            <a:srgbClr val="0F307F"/>
          </a:solidFill>
          <a:ln/>
        </p:spPr>
      </p:sp>
      <p:sp>
        <p:nvSpPr>
          <p:cNvPr id="6" name="Text 4"/>
          <p:cNvSpPr/>
          <p:nvPr/>
        </p:nvSpPr>
        <p:spPr>
          <a:xfrm>
            <a:off x="914400" y="3200400"/>
            <a:ext cx="457200" cy="640080"/>
          </a:xfrm>
          <a:prstGeom prst="rect">
            <a:avLst/>
          </a:prstGeom>
          <a:noFill/>
          <a:ln/>
        </p:spPr>
        <p:txBody>
          <a:bodyPr wrap="square" lIns="0" tIns="0" rIns="0" bIns="0" rtlCol="0" anchor="ctr"/>
          <a:lstStyle/>
          <a:p>
            <a:pPr marL="0" indent="0" algn="l">
              <a:buNone/>
            </a:pPr>
            <a:r>
              <a:rPr lang="en-US" sz="3080" b="1" dirty="0">
                <a:solidFill>
                  <a:srgbClr val="00C7FF"/>
                </a:solidFill>
                <a:latin typeface="Cambria" pitchFamily="34" charset="0"/>
                <a:ea typeface="Cambria" pitchFamily="34" charset="-122"/>
                <a:cs typeface="Cambria" pitchFamily="34" charset="-120"/>
              </a:rPr>
              <a:t>[</a:t>
            </a:r>
            <a:endParaRPr lang="en-US" sz="3080" dirty="0"/>
          </a:p>
        </p:txBody>
      </p:sp>
      <p:sp>
        <p:nvSpPr>
          <p:cNvPr id="7" name="Text 5"/>
          <p:cNvSpPr/>
          <p:nvPr/>
        </p:nvSpPr>
        <p:spPr>
          <a:xfrm>
            <a:off x="10607040" y="3200400"/>
            <a:ext cx="457200" cy="640080"/>
          </a:xfrm>
          <a:prstGeom prst="rect">
            <a:avLst/>
          </a:prstGeom>
          <a:noFill/>
          <a:ln/>
        </p:spPr>
        <p:txBody>
          <a:bodyPr wrap="square" lIns="0" tIns="0" rIns="0" bIns="0" rtlCol="0" anchor="ctr"/>
          <a:lstStyle/>
          <a:p>
            <a:pPr marL="0" indent="0" algn="r">
              <a:buNone/>
            </a:pPr>
            <a:r>
              <a:rPr lang="en-US" sz="3080" b="1" dirty="0">
                <a:solidFill>
                  <a:srgbClr val="00C7FF"/>
                </a:solidFill>
                <a:latin typeface="Cambria" pitchFamily="34" charset="0"/>
                <a:ea typeface="Cambria" pitchFamily="34" charset="-122"/>
                <a:cs typeface="Cambria" pitchFamily="34" charset="-120"/>
              </a:rPr>
              <a:t>]</a:t>
            </a:r>
            <a:endParaRPr lang="en-US" sz="3080" dirty="0"/>
          </a:p>
        </p:txBody>
      </p:sp>
      <p:sp>
        <p:nvSpPr>
          <p:cNvPr id="8" name="Text 6"/>
          <p:cNvSpPr/>
          <p:nvPr/>
        </p:nvSpPr>
        <p:spPr>
          <a:xfrm>
            <a:off x="914400" y="3246120"/>
            <a:ext cx="10149840" cy="20116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Your job isn't to make the system sound smart.</a:t>
            </a:r>
            <a:endParaRPr lang="en-US" sz="2200" dirty="0"/>
          </a:p>
          <a:p>
            <a:pPr marL="0" indent="0" algn="ctr">
              <a:buNone/>
            </a:pPr>
            <a:r>
              <a:rPr lang="en-US" sz="2200" b="1" dirty="0">
                <a:solidFill>
                  <a:srgbClr val="FFFFFF"/>
                </a:solidFill>
                <a:latin typeface="Cambria" pitchFamily="34" charset="0"/>
                <a:ea typeface="Cambria" pitchFamily="34" charset="-122"/>
                <a:cs typeface="Cambria" pitchFamily="34" charset="-120"/>
              </a:rPr>
              <a:t>It's to make its confidence match its evidence.</a:t>
            </a:r>
            <a:endParaRPr lang="en-US" sz="2200" dirty="0"/>
          </a:p>
        </p:txBody>
      </p:sp>
      <p:pic>
        <p:nvPicPr>
          <p:cNvPr id="9"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10" name="Text 7"/>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11" name="Text 8"/>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17</a:t>
            </a:r>
            <a:endParaRPr lang="en-US" sz="900" dirty="0"/>
          </a:p>
        </p:txBody>
      </p:sp>
      <p:pic>
        <p:nvPicPr>
          <p:cNvPr id="12" name="Google Shape;90;p1">
            <a:extLst>
              <a:ext uri="{FF2B5EF4-FFF2-40B4-BE49-F238E27FC236}">
                <a16:creationId xmlns:a16="http://schemas.microsoft.com/office/drawing/2014/main" id="{FF107B0B-BB2A-43F3-B954-0E47E9ACEA93}"/>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3 — LANGUAGE MATTERS</a:t>
            </a:r>
            <a:endParaRPr lang="en-US" sz="1200" dirty="0"/>
          </a:p>
        </p:txBody>
      </p:sp>
      <p:sp>
        <p:nvSpPr>
          <p:cNvPr id="3" name="Text 1"/>
          <p:cNvSpPr/>
          <p:nvPr/>
        </p:nvSpPr>
        <p:spPr>
          <a:xfrm>
            <a:off x="548640" y="868680"/>
            <a:ext cx="10332720" cy="731520"/>
          </a:xfrm>
          <a:prstGeom prst="rect">
            <a:avLst/>
          </a:prstGeom>
          <a:noFill/>
          <a:ln/>
        </p:spPr>
        <p:txBody>
          <a:bodyPr wrap="square" lIns="0" tIns="0" rIns="0" bIns="0" rtlCol="0" anchor="ctr"/>
          <a:lstStyle/>
          <a:p>
            <a:pPr marL="0" indent="0">
              <a:buNone/>
            </a:pPr>
            <a:r>
              <a:rPr lang="en-US" sz="2800" b="1" dirty="0">
                <a:solidFill>
                  <a:srgbClr val="111111"/>
                </a:solidFill>
                <a:latin typeface="Cambria" pitchFamily="34" charset="0"/>
                <a:ea typeface="Cambria" pitchFamily="34" charset="-122"/>
                <a:cs typeface="Cambria" pitchFamily="34" charset="-120"/>
              </a:rPr>
              <a:t>Calibrate the Words, Not Just the Numbers</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3017520"/>
        </p:xfrm>
        <a:graphic>
          <a:graphicData uri="http://schemas.openxmlformats.org/drawingml/2006/table">
            <a:tbl>
              <a:tblPr/>
              <a:tblGrid>
                <a:gridCol w="329184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603504">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Evidence Strength</a:t>
                      </a:r>
                      <a:endParaRPr lang="en-US" sz="1250" dirty="0">
                        <a:latin typeface="Calibri" charset="0"/>
                        <a:ea typeface="Calibri" charset="0"/>
                        <a:cs typeface="Calibri" charset="0"/>
                      </a:endParaRPr>
                    </a:p>
                  </a:txBody>
                  <a:tcPr marL="109728" marR="109728" marT="73152" marB="73152"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0F307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Language to Use</a:t>
                      </a:r>
                      <a:endParaRPr lang="en-US" sz="1250" dirty="0">
                        <a:latin typeface="Calibri" charset="0"/>
                        <a:ea typeface="Calibri" charset="0"/>
                        <a:cs typeface="Calibri" charset="0"/>
                      </a:endParaRPr>
                    </a:p>
                  </a:txBody>
                  <a:tcPr marL="109728" marR="109728" marT="73152" marB="73152"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0F307F"/>
                    </a:solidFill>
                  </a:tcPr>
                </a:tc>
                <a:extLst>
                  <a:ext uri="{0D108BD9-81ED-4DB2-BD59-A6C34878D82A}">
                    <a16:rowId xmlns:a16="http://schemas.microsoft.com/office/drawing/2014/main" val="10000"/>
                  </a:ext>
                </a:extLst>
              </a:tr>
              <a:tr h="603504">
                <a:tc>
                  <a:txBody>
                    <a:bodyPr/>
                    <a:lstStyle/>
                    <a:p>
                      <a:pPr marL="0" indent="0">
                        <a:buNone/>
                      </a:pPr>
                      <a:r>
                        <a:rPr lang="en-US" sz="1250" dirty="0">
                          <a:solidFill>
                            <a:srgbClr val="2A2A2A"/>
                          </a:solidFill>
                          <a:latin typeface="Calibri" pitchFamily="34" charset="0"/>
                          <a:ea typeface="Calibri" pitchFamily="34" charset="-122"/>
                          <a:cs typeface="Calibri" pitchFamily="34" charset="-120"/>
                        </a:rPr>
                        <a:t>Strong, direct match</a:t>
                      </a:r>
                      <a:endParaRPr lang="en-US" sz="1250" dirty="0">
                        <a:latin typeface="Calibri" charset="0"/>
                        <a:ea typeface="Calibri" charset="0"/>
                        <a:cs typeface="Calibri" charset="0"/>
                      </a:endParaRPr>
                    </a:p>
                  </a:txBody>
                  <a:tcPr marL="109728" marR="109728" marT="73152" marB="73152"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tc>
                  <a:txBody>
                    <a:bodyPr/>
                    <a:lstStyle/>
                    <a:p>
                      <a:pPr marL="0" indent="0">
                        <a:buNone/>
                      </a:pPr>
                      <a:r>
                        <a:rPr lang="en-US" sz="1250" i="1" dirty="0">
                          <a:solidFill>
                            <a:srgbClr val="2A2A2A"/>
                          </a:solidFill>
                          <a:latin typeface="Calibri" pitchFamily="34" charset="0"/>
                          <a:ea typeface="Calibri" pitchFamily="34" charset="-122"/>
                          <a:cs typeface="Calibri" pitchFamily="34" charset="-120"/>
                        </a:rPr>
                        <a:t>“The guideline recommends…”</a:t>
                      </a:r>
                      <a:endParaRPr lang="en-US" sz="1250" dirty="0">
                        <a:latin typeface="Calibri" charset="0"/>
                        <a:ea typeface="Calibri" charset="0"/>
                        <a:cs typeface="Calibri" charset="0"/>
                      </a:endParaRPr>
                    </a:p>
                  </a:txBody>
                  <a:tcPr marL="109728" marR="109728" marT="73152" marB="73152"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1250" dirty="0">
                          <a:solidFill>
                            <a:srgbClr val="2A2A2A"/>
                          </a:solidFill>
                          <a:latin typeface="Calibri" pitchFamily="34" charset="0"/>
                          <a:ea typeface="Calibri" pitchFamily="34" charset="-122"/>
                          <a:cs typeface="Calibri" pitchFamily="34" charset="-120"/>
                        </a:rPr>
                        <a:t>Partial or indirect match</a:t>
                      </a:r>
                      <a:endParaRPr lang="en-US" sz="1250" dirty="0">
                        <a:latin typeface="Calibri" charset="0"/>
                        <a:ea typeface="Calibri" charset="0"/>
                        <a:cs typeface="Calibri" charset="0"/>
                      </a:endParaRPr>
                    </a:p>
                  </a:txBody>
                  <a:tcPr marL="109728" marR="109728" marT="73152" marB="73152"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1F5FC"/>
                    </a:solidFill>
                  </a:tcPr>
                </a:tc>
                <a:tc>
                  <a:txBody>
                    <a:bodyPr/>
                    <a:lstStyle/>
                    <a:p>
                      <a:pPr marL="0" indent="0">
                        <a:buNone/>
                      </a:pPr>
                      <a:r>
                        <a:rPr lang="en-US" sz="1250" i="1" dirty="0">
                          <a:solidFill>
                            <a:srgbClr val="2A2A2A"/>
                          </a:solidFill>
                          <a:latin typeface="Calibri" pitchFamily="34" charset="0"/>
                          <a:ea typeface="Calibri" pitchFamily="34" charset="-122"/>
                          <a:cs typeface="Calibri" pitchFamily="34" charset="-120"/>
                        </a:rPr>
                        <a:t>“The guideline suggests, though this doesn't directly address…”</a:t>
                      </a:r>
                      <a:endParaRPr lang="en-US" sz="1250" dirty="0">
                        <a:latin typeface="Calibri" charset="0"/>
                        <a:ea typeface="Calibri" charset="0"/>
                        <a:cs typeface="Calibri" charset="0"/>
                      </a:endParaRPr>
                    </a:p>
                  </a:txBody>
                  <a:tcPr marL="109728" marR="109728" marT="73152" marB="73152"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1F5FC"/>
                    </a:solidFill>
                  </a:tcPr>
                </a:tc>
                <a:extLst>
                  <a:ext uri="{0D108BD9-81ED-4DB2-BD59-A6C34878D82A}">
                    <a16:rowId xmlns:a16="http://schemas.microsoft.com/office/drawing/2014/main" val="10002"/>
                  </a:ext>
                </a:extLst>
              </a:tr>
              <a:tr h="603504">
                <a:tc>
                  <a:txBody>
                    <a:bodyPr/>
                    <a:lstStyle/>
                    <a:p>
                      <a:pPr marL="0" indent="0">
                        <a:buNone/>
                      </a:pPr>
                      <a:r>
                        <a:rPr lang="en-US" sz="1250" dirty="0">
                          <a:solidFill>
                            <a:srgbClr val="2A2A2A"/>
                          </a:solidFill>
                          <a:latin typeface="Calibri" pitchFamily="34" charset="0"/>
                          <a:ea typeface="Calibri" pitchFamily="34" charset="-122"/>
                          <a:cs typeface="Calibri" pitchFamily="34" charset="-120"/>
                        </a:rPr>
                        <a:t>Weak or conflicting match</a:t>
                      </a:r>
                      <a:endParaRPr lang="en-US" sz="1250" dirty="0">
                        <a:latin typeface="Calibri" charset="0"/>
                        <a:ea typeface="Calibri" charset="0"/>
                        <a:cs typeface="Calibri" charset="0"/>
                      </a:endParaRPr>
                    </a:p>
                  </a:txBody>
                  <a:tcPr marL="109728" marR="109728" marT="73152" marB="73152"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tc>
                  <a:txBody>
                    <a:bodyPr/>
                    <a:lstStyle/>
                    <a:p>
                      <a:pPr marL="0" indent="0">
                        <a:buNone/>
                      </a:pPr>
                      <a:r>
                        <a:rPr lang="en-US" sz="1250" i="1" dirty="0">
                          <a:solidFill>
                            <a:srgbClr val="2A2A2A"/>
                          </a:solidFill>
                          <a:latin typeface="Calibri" pitchFamily="34" charset="0"/>
                          <a:ea typeface="Calibri" pitchFamily="34" charset="-122"/>
                          <a:cs typeface="Calibri" pitchFamily="34" charset="-120"/>
                        </a:rPr>
                        <a:t>“Limited evidence found; consider consulting the full guideline…”</a:t>
                      </a:r>
                      <a:endParaRPr lang="en-US" sz="1250" dirty="0">
                        <a:latin typeface="Calibri" charset="0"/>
                        <a:ea typeface="Calibri" charset="0"/>
                        <a:cs typeface="Calibri" charset="0"/>
                      </a:endParaRPr>
                    </a:p>
                  </a:txBody>
                  <a:tcPr marL="109728" marR="109728" marT="73152" marB="73152"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buNone/>
                      </a:pPr>
                      <a:r>
                        <a:rPr lang="en-US" sz="1250" dirty="0">
                          <a:solidFill>
                            <a:srgbClr val="2A2A2A"/>
                          </a:solidFill>
                          <a:latin typeface="Calibri" pitchFamily="34" charset="0"/>
                          <a:ea typeface="Calibri" pitchFamily="34" charset="-122"/>
                          <a:cs typeface="Calibri" pitchFamily="34" charset="-120"/>
                        </a:rPr>
                        <a:t>Below threshold</a:t>
                      </a:r>
                      <a:endParaRPr lang="en-US" sz="1250" dirty="0">
                        <a:latin typeface="Calibri" charset="0"/>
                        <a:ea typeface="Calibri" charset="0"/>
                        <a:cs typeface="Calibri" charset="0"/>
                      </a:endParaRPr>
                    </a:p>
                  </a:txBody>
                  <a:tcPr marL="109728" marR="109728" marT="73152" marB="73152"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1F5FC"/>
                    </a:solidFill>
                  </a:tcPr>
                </a:tc>
                <a:tc>
                  <a:txBody>
                    <a:bodyPr/>
                    <a:lstStyle/>
                    <a:p>
                      <a:pPr marL="0" indent="0">
                        <a:buNone/>
                      </a:pPr>
                      <a:r>
                        <a:rPr lang="en-US" sz="1250" i="1" dirty="0">
                          <a:solidFill>
                            <a:srgbClr val="2A2A2A"/>
                          </a:solidFill>
                          <a:latin typeface="Calibri" pitchFamily="34" charset="0"/>
                          <a:ea typeface="Calibri" pitchFamily="34" charset="-122"/>
                          <a:cs typeface="Calibri" pitchFamily="34" charset="-120"/>
                        </a:rPr>
                        <a:t>Refuse — do not soften into a guess</a:t>
                      </a:r>
                      <a:endParaRPr lang="en-US" sz="1250" dirty="0">
                        <a:latin typeface="Calibri" charset="0"/>
                        <a:ea typeface="Calibri" charset="0"/>
                        <a:cs typeface="Calibri" charset="0"/>
                      </a:endParaRPr>
                    </a:p>
                  </a:txBody>
                  <a:tcPr marL="109728" marR="109728" marT="73152" marB="73152" anchor="ctr">
                    <a:lnL w="9525" cap="flat" cmpd="sng" algn="ctr">
                      <a:solidFill>
                        <a:srgbClr val="DCE6F7"/>
                      </a:solidFill>
                      <a:prstDash val="solid"/>
                      <a:round/>
                      <a:headEnd type="none" w="med" len="med"/>
                      <a:tailEnd type="none" w="med" len="med"/>
                    </a:lnL>
                    <a:lnR w="9525" cap="flat" cmpd="sng" algn="ctr">
                      <a:solidFill>
                        <a:srgbClr val="DCE6F7"/>
                      </a:solidFill>
                      <a:prstDash val="solid"/>
                      <a:round/>
                      <a:headEnd type="none" w="med" len="med"/>
                      <a:tailEnd type="none" w="med" len="med"/>
                    </a:lnR>
                    <a:lnT w="9525" cap="flat" cmpd="sng" algn="ctr">
                      <a:solidFill>
                        <a:srgbClr val="DCE6F7"/>
                      </a:solidFill>
                      <a:prstDash val="solid"/>
                      <a:round/>
                      <a:headEnd type="none" w="med" len="med"/>
                      <a:tailEnd type="none" w="med" len="med"/>
                    </a:lnT>
                    <a:lnB w="9525" cap="flat" cmpd="sng" algn="ctr">
                      <a:solidFill>
                        <a:srgbClr val="DCE6F7"/>
                      </a:solidFill>
                      <a:prstDash val="solid"/>
                      <a:round/>
                      <a:headEnd type="none" w="med" len="med"/>
                      <a:tailEnd type="none" w="med" len="med"/>
                    </a:lnB>
                    <a:solidFill>
                      <a:srgbClr val="F1F5FC"/>
                    </a:solidFill>
                  </a:tcPr>
                </a:tc>
                <a:extLst>
                  <a:ext uri="{0D108BD9-81ED-4DB2-BD59-A6C34878D82A}">
                    <a16:rowId xmlns:a16="http://schemas.microsoft.com/office/drawing/2014/main" val="10004"/>
                  </a:ext>
                </a:extLst>
              </a:tr>
            </a:tbl>
          </a:graphicData>
        </a:graphic>
      </p:graphicFrame>
      <p:pic>
        <p:nvPicPr>
          <p:cNvPr id="5"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6" name="Text 2"/>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7" name="Text 3"/>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18</a:t>
            </a:r>
            <a:endParaRPr lang="en-US" sz="900" dirty="0"/>
          </a:p>
        </p:txBody>
      </p:sp>
      <p:pic>
        <p:nvPicPr>
          <p:cNvPr id="8" name="Google Shape;90;p1">
            <a:extLst>
              <a:ext uri="{FF2B5EF4-FFF2-40B4-BE49-F238E27FC236}">
                <a16:creationId xmlns:a16="http://schemas.microsoft.com/office/drawing/2014/main" id="{736D9F75-E537-4B17-9F96-9CBE13928695}"/>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3 — BEFORE YOU SHIP IT</a:t>
            </a:r>
            <a:endParaRPr lang="en-US" sz="1200" dirty="0"/>
          </a:p>
        </p:txBody>
      </p:sp>
      <p:sp>
        <p:nvSpPr>
          <p:cNvPr id="3" name="Text 1"/>
          <p:cNvSpPr/>
          <p:nvPr/>
        </p:nvSpPr>
        <p:spPr>
          <a:xfrm>
            <a:off x="548640" y="868680"/>
            <a:ext cx="10332720" cy="73152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Responsible AI Checklist for Clinical Context</a:t>
            </a:r>
            <a:endParaRPr lang="en-US" sz="2700" dirty="0"/>
          </a:p>
        </p:txBody>
      </p:sp>
      <p:sp>
        <p:nvSpPr>
          <p:cNvPr id="4" name="Shape 2"/>
          <p:cNvSpPr/>
          <p:nvPr/>
        </p:nvSpPr>
        <p:spPr>
          <a:xfrm>
            <a:off x="640080" y="1874520"/>
            <a:ext cx="457200" cy="457200"/>
          </a:xfrm>
          <a:prstGeom prst="roundRect">
            <a:avLst>
              <a:gd name="adj" fmla="val 50000"/>
            </a:avLst>
          </a:prstGeom>
          <a:solidFill>
            <a:srgbClr val="00C7FF"/>
          </a:solidFill>
          <a:ln/>
        </p:spPr>
      </p:sp>
      <p:sp>
        <p:nvSpPr>
          <p:cNvPr id="5" name="Text 3"/>
          <p:cNvSpPr/>
          <p:nvPr/>
        </p:nvSpPr>
        <p:spPr>
          <a:xfrm>
            <a:off x="640080" y="1874520"/>
            <a:ext cx="457200" cy="457200"/>
          </a:xfrm>
          <a:prstGeom prst="rect">
            <a:avLst/>
          </a:prstGeom>
          <a:noFill/>
          <a:ln/>
        </p:spPr>
        <p:txBody>
          <a:bodyPr wrap="square" lIns="0" tIns="0" rIns="0" bIns="0" rtlCol="0" anchor="ctr"/>
          <a:lstStyle/>
          <a:p>
            <a:pPr marL="0" indent="0" algn="ctr">
              <a:buNone/>
            </a:pPr>
            <a:r>
              <a:rPr lang="en-US" sz="1600" b="1" dirty="0">
                <a:solidFill>
                  <a:srgbClr val="0F307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280160" y="1828800"/>
            <a:ext cx="10241280" cy="548640"/>
          </a:xfrm>
          <a:prstGeom prst="rect">
            <a:avLst/>
          </a:prstGeom>
          <a:noFill/>
          <a:ln/>
        </p:spPr>
        <p:txBody>
          <a:bodyPr wrap="square" lIns="0" tIns="0" rIns="0" bIns="0" rtlCol="0" anchor="ctr"/>
          <a:lstStyle/>
          <a:p>
            <a:pPr marL="0" indent="0">
              <a:buNone/>
            </a:pPr>
            <a:r>
              <a:rPr lang="en-US" sz="1500" dirty="0">
                <a:solidFill>
                  <a:srgbClr val="111111"/>
                </a:solidFill>
                <a:latin typeface="Calibri" pitchFamily="34" charset="0"/>
                <a:ea typeface="Calibri" pitchFamily="34" charset="-122"/>
                <a:cs typeface="Calibri" pitchFamily="34" charset="-120"/>
              </a:rPr>
              <a:t>No answer implies it replaces clinical judgment</a:t>
            </a:r>
            <a:endParaRPr lang="en-US" sz="1500" dirty="0"/>
          </a:p>
        </p:txBody>
      </p:sp>
      <p:sp>
        <p:nvSpPr>
          <p:cNvPr id="7" name="Shape 5"/>
          <p:cNvSpPr/>
          <p:nvPr/>
        </p:nvSpPr>
        <p:spPr>
          <a:xfrm>
            <a:off x="640080" y="2651760"/>
            <a:ext cx="457200" cy="457200"/>
          </a:xfrm>
          <a:prstGeom prst="roundRect">
            <a:avLst>
              <a:gd name="adj" fmla="val 50000"/>
            </a:avLst>
          </a:prstGeom>
          <a:solidFill>
            <a:srgbClr val="00C7FF"/>
          </a:solidFill>
          <a:ln/>
        </p:spPr>
      </p:sp>
      <p:sp>
        <p:nvSpPr>
          <p:cNvPr id="8" name="Text 6"/>
          <p:cNvSpPr/>
          <p:nvPr/>
        </p:nvSpPr>
        <p:spPr>
          <a:xfrm>
            <a:off x="640080" y="2651760"/>
            <a:ext cx="457200" cy="457200"/>
          </a:xfrm>
          <a:prstGeom prst="rect">
            <a:avLst/>
          </a:prstGeom>
          <a:noFill/>
          <a:ln/>
        </p:spPr>
        <p:txBody>
          <a:bodyPr wrap="square" lIns="0" tIns="0" rIns="0" bIns="0" rtlCol="0" anchor="ctr"/>
          <a:lstStyle/>
          <a:p>
            <a:pPr marL="0" indent="0" algn="ctr">
              <a:buNone/>
            </a:pPr>
            <a:r>
              <a:rPr lang="en-US" sz="1600" b="1" dirty="0">
                <a:solidFill>
                  <a:srgbClr val="0F307F"/>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1280160" y="2606040"/>
            <a:ext cx="10241280" cy="548640"/>
          </a:xfrm>
          <a:prstGeom prst="rect">
            <a:avLst/>
          </a:prstGeom>
          <a:noFill/>
          <a:ln/>
        </p:spPr>
        <p:txBody>
          <a:bodyPr wrap="square" lIns="0" tIns="0" rIns="0" bIns="0" rtlCol="0" anchor="ctr"/>
          <a:lstStyle/>
          <a:p>
            <a:pPr marL="0" indent="0">
              <a:buNone/>
            </a:pPr>
            <a:r>
              <a:rPr lang="en-US" sz="1500" dirty="0">
                <a:solidFill>
                  <a:srgbClr val="111111"/>
                </a:solidFill>
                <a:latin typeface="Calibri" pitchFamily="34" charset="0"/>
                <a:ea typeface="Calibri" pitchFamily="34" charset="-122"/>
                <a:cs typeface="Calibri" pitchFamily="34" charset="-120"/>
              </a:rPr>
              <a:t>Uncertainty language matches actual evidence strength</a:t>
            </a:r>
            <a:endParaRPr lang="en-US" sz="1500" dirty="0"/>
          </a:p>
        </p:txBody>
      </p:sp>
      <p:sp>
        <p:nvSpPr>
          <p:cNvPr id="10" name="Shape 8"/>
          <p:cNvSpPr/>
          <p:nvPr/>
        </p:nvSpPr>
        <p:spPr>
          <a:xfrm>
            <a:off x="640080" y="3429000"/>
            <a:ext cx="457200" cy="457200"/>
          </a:xfrm>
          <a:prstGeom prst="roundRect">
            <a:avLst>
              <a:gd name="adj" fmla="val 50000"/>
            </a:avLst>
          </a:prstGeom>
          <a:solidFill>
            <a:srgbClr val="00C7FF"/>
          </a:solidFill>
          <a:ln/>
        </p:spPr>
      </p:sp>
      <p:sp>
        <p:nvSpPr>
          <p:cNvPr id="11" name="Text 9"/>
          <p:cNvSpPr/>
          <p:nvPr/>
        </p:nvSpPr>
        <p:spPr>
          <a:xfrm>
            <a:off x="640080" y="3429000"/>
            <a:ext cx="457200" cy="457200"/>
          </a:xfrm>
          <a:prstGeom prst="rect">
            <a:avLst/>
          </a:prstGeom>
          <a:noFill/>
          <a:ln/>
        </p:spPr>
        <p:txBody>
          <a:bodyPr wrap="square" lIns="0" tIns="0" rIns="0" bIns="0" rtlCol="0" anchor="ctr"/>
          <a:lstStyle/>
          <a:p>
            <a:pPr marL="0" indent="0" algn="ctr">
              <a:buNone/>
            </a:pPr>
            <a:r>
              <a:rPr lang="en-US" sz="1600" b="1" dirty="0">
                <a:solidFill>
                  <a:srgbClr val="0F307F"/>
                </a:solidFill>
                <a:latin typeface="Cambria" pitchFamily="34" charset="0"/>
                <a:ea typeface="Cambria" pitchFamily="34" charset="-122"/>
                <a:cs typeface="Cambria" pitchFamily="34" charset="-120"/>
              </a:rPr>
              <a:t>3</a:t>
            </a:r>
            <a:endParaRPr lang="en-US" sz="1600" dirty="0"/>
          </a:p>
        </p:txBody>
      </p:sp>
      <p:sp>
        <p:nvSpPr>
          <p:cNvPr id="12" name="Text 10"/>
          <p:cNvSpPr/>
          <p:nvPr/>
        </p:nvSpPr>
        <p:spPr>
          <a:xfrm>
            <a:off x="1280160" y="3383280"/>
            <a:ext cx="10241280" cy="548640"/>
          </a:xfrm>
          <a:prstGeom prst="rect">
            <a:avLst/>
          </a:prstGeom>
          <a:noFill/>
          <a:ln/>
        </p:spPr>
        <p:txBody>
          <a:bodyPr wrap="square" lIns="0" tIns="0" rIns="0" bIns="0" rtlCol="0" anchor="ctr"/>
          <a:lstStyle/>
          <a:p>
            <a:pPr marL="0" indent="0">
              <a:buNone/>
            </a:pPr>
            <a:r>
              <a:rPr lang="en-US" sz="1500" dirty="0">
                <a:solidFill>
                  <a:srgbClr val="111111"/>
                </a:solidFill>
                <a:latin typeface="Calibri" pitchFamily="34" charset="0"/>
                <a:ea typeface="Calibri" pitchFamily="34" charset="-122"/>
                <a:cs typeface="Calibri" pitchFamily="34" charset="-120"/>
              </a:rPr>
              <a:t>Refusals never get quietly softened for the sake of a demo</a:t>
            </a:r>
            <a:endParaRPr lang="en-US" sz="1500" dirty="0"/>
          </a:p>
        </p:txBody>
      </p:sp>
      <p:sp>
        <p:nvSpPr>
          <p:cNvPr id="13" name="Shape 11"/>
          <p:cNvSpPr/>
          <p:nvPr/>
        </p:nvSpPr>
        <p:spPr>
          <a:xfrm>
            <a:off x="640080" y="4206240"/>
            <a:ext cx="457200" cy="457200"/>
          </a:xfrm>
          <a:prstGeom prst="roundRect">
            <a:avLst>
              <a:gd name="adj" fmla="val 50000"/>
            </a:avLst>
          </a:prstGeom>
          <a:solidFill>
            <a:srgbClr val="00C7FF"/>
          </a:solidFill>
          <a:ln/>
        </p:spPr>
      </p:sp>
      <p:sp>
        <p:nvSpPr>
          <p:cNvPr id="14" name="Text 12"/>
          <p:cNvSpPr/>
          <p:nvPr/>
        </p:nvSpPr>
        <p:spPr>
          <a:xfrm>
            <a:off x="640080" y="4206240"/>
            <a:ext cx="457200" cy="457200"/>
          </a:xfrm>
          <a:prstGeom prst="rect">
            <a:avLst/>
          </a:prstGeom>
          <a:noFill/>
          <a:ln/>
        </p:spPr>
        <p:txBody>
          <a:bodyPr wrap="square" lIns="0" tIns="0" rIns="0" bIns="0" rtlCol="0" anchor="ctr"/>
          <a:lstStyle/>
          <a:p>
            <a:pPr marL="0" indent="0" algn="ctr">
              <a:buNone/>
            </a:pPr>
            <a:r>
              <a:rPr lang="en-US" sz="1600" b="1" dirty="0">
                <a:solidFill>
                  <a:srgbClr val="0F307F"/>
                </a:solidFill>
                <a:latin typeface="Cambria" pitchFamily="34" charset="0"/>
                <a:ea typeface="Cambria" pitchFamily="34" charset="-122"/>
                <a:cs typeface="Cambria" pitchFamily="34" charset="-120"/>
              </a:rPr>
              <a:t>4</a:t>
            </a:r>
            <a:endParaRPr lang="en-US" sz="1600" dirty="0"/>
          </a:p>
        </p:txBody>
      </p:sp>
      <p:sp>
        <p:nvSpPr>
          <p:cNvPr id="15" name="Text 13"/>
          <p:cNvSpPr/>
          <p:nvPr/>
        </p:nvSpPr>
        <p:spPr>
          <a:xfrm>
            <a:off x="1280160" y="4160520"/>
            <a:ext cx="10241280" cy="548640"/>
          </a:xfrm>
          <a:prstGeom prst="rect">
            <a:avLst/>
          </a:prstGeom>
          <a:noFill/>
          <a:ln/>
        </p:spPr>
        <p:txBody>
          <a:bodyPr wrap="square" lIns="0" tIns="0" rIns="0" bIns="0" rtlCol="0" anchor="ctr"/>
          <a:lstStyle/>
          <a:p>
            <a:pPr marL="0" indent="0">
              <a:buNone/>
            </a:pPr>
            <a:r>
              <a:rPr lang="en-US" sz="1500" dirty="0">
                <a:solidFill>
                  <a:srgbClr val="111111"/>
                </a:solidFill>
                <a:latin typeface="Calibri" pitchFamily="34" charset="0"/>
                <a:ea typeface="Calibri" pitchFamily="34" charset="-122"/>
                <a:cs typeface="Calibri" pitchFamily="34" charset="-120"/>
              </a:rPr>
              <a:t>A disclaimer is visible, not buried in fine print</a:t>
            </a:r>
            <a:endParaRPr lang="en-US" sz="1500" dirty="0"/>
          </a:p>
        </p:txBody>
      </p:sp>
      <p:pic>
        <p:nvPicPr>
          <p:cNvPr id="16"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17" name="Text 14"/>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18" name="Text 15"/>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19</a:t>
            </a:r>
            <a:endParaRPr lang="en-US" sz="900" dirty="0"/>
          </a:p>
        </p:txBody>
      </p:sp>
      <p:pic>
        <p:nvPicPr>
          <p:cNvPr id="19" name="Google Shape;90;p1">
            <a:extLst>
              <a:ext uri="{FF2B5EF4-FFF2-40B4-BE49-F238E27FC236}">
                <a16:creationId xmlns:a16="http://schemas.microsoft.com/office/drawing/2014/main" id="{B8AFF522-AC0C-48FB-ABE2-651BCDD4DB51}"/>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F307F"/>
        </a:solidFill>
        <a:effectLst/>
      </p:bgPr>
    </p:bg>
    <p:spTree>
      <p:nvGrpSpPr>
        <p:cNvPr id="1" name=""/>
        <p:cNvGrpSpPr/>
        <p:nvPr/>
      </p:nvGrpSpPr>
      <p:grpSpPr>
        <a:xfrm>
          <a:off x="0" y="0"/>
          <a:ext cx="0" cy="0"/>
          <a:chOff x="0" y="0"/>
          <a:chExt cx="0" cy="0"/>
        </a:xfrm>
      </p:grpSpPr>
      <p:sp>
        <p:nvSpPr>
          <p:cNvPr id="2" name="Text 0"/>
          <p:cNvSpPr/>
          <p:nvPr/>
        </p:nvSpPr>
        <p:spPr>
          <a:xfrm>
            <a:off x="1280160" y="2286000"/>
            <a:ext cx="457200" cy="1371600"/>
          </a:xfrm>
          <a:prstGeom prst="rect">
            <a:avLst/>
          </a:prstGeom>
          <a:noFill/>
          <a:ln/>
        </p:spPr>
        <p:txBody>
          <a:bodyPr wrap="square" lIns="0" tIns="0" rIns="0" bIns="0" rtlCol="0" anchor="ctr"/>
          <a:lstStyle/>
          <a:p>
            <a:pPr marL="0" indent="0" algn="l">
              <a:buNone/>
            </a:pPr>
            <a:r>
              <a:rPr lang="en-US" sz="6600" b="1" dirty="0">
                <a:solidFill>
                  <a:srgbClr val="00C7FF"/>
                </a:solidFill>
                <a:latin typeface="Cambria" pitchFamily="34" charset="0"/>
                <a:ea typeface="Cambria" pitchFamily="34" charset="-122"/>
                <a:cs typeface="Cambria" pitchFamily="34" charset="-120"/>
              </a:rPr>
              <a:t>[</a:t>
            </a:r>
            <a:endParaRPr lang="en-US" sz="6600" dirty="0"/>
          </a:p>
        </p:txBody>
      </p:sp>
      <p:sp>
        <p:nvSpPr>
          <p:cNvPr id="3" name="Text 1"/>
          <p:cNvSpPr/>
          <p:nvPr/>
        </p:nvSpPr>
        <p:spPr>
          <a:xfrm>
            <a:off x="10451592" y="2286000"/>
            <a:ext cx="457200" cy="1371600"/>
          </a:xfrm>
          <a:prstGeom prst="rect">
            <a:avLst/>
          </a:prstGeom>
          <a:noFill/>
          <a:ln/>
        </p:spPr>
        <p:txBody>
          <a:bodyPr wrap="square" lIns="0" tIns="0" rIns="0" bIns="0" rtlCol="0" anchor="ctr"/>
          <a:lstStyle/>
          <a:p>
            <a:pPr marL="0" indent="0" algn="r">
              <a:buNone/>
            </a:pPr>
            <a:r>
              <a:rPr lang="en-US" sz="6600" b="1" dirty="0">
                <a:solidFill>
                  <a:srgbClr val="00C7FF"/>
                </a:solidFill>
                <a:latin typeface="Cambria" pitchFamily="34" charset="0"/>
                <a:ea typeface="Cambria" pitchFamily="34" charset="-122"/>
                <a:cs typeface="Cambria" pitchFamily="34" charset="-120"/>
              </a:rPr>
              <a:t>]</a:t>
            </a:r>
            <a:endParaRPr lang="en-US" sz="6600" dirty="0"/>
          </a:p>
        </p:txBody>
      </p:sp>
      <p:sp>
        <p:nvSpPr>
          <p:cNvPr id="4" name="Text 2"/>
          <p:cNvSpPr/>
          <p:nvPr/>
        </p:nvSpPr>
        <p:spPr>
          <a:xfrm>
            <a:off x="1280160" y="2423160"/>
            <a:ext cx="9628632" cy="457200"/>
          </a:xfrm>
          <a:prstGeom prst="rect">
            <a:avLst/>
          </a:prstGeom>
          <a:noFill/>
          <a:ln/>
        </p:spPr>
        <p:txBody>
          <a:bodyPr wrap="square" lIns="0" tIns="0" rIns="0" bIns="0" rtlCol="0" anchor="ctr"/>
          <a:lstStyle/>
          <a:p>
            <a:pPr marL="0" indent="0" algn="ctr">
              <a:buNone/>
            </a:pPr>
            <a:r>
              <a:rPr lang="en-US" sz="1500" b="1" kern="0" spc="300" dirty="0">
                <a:solidFill>
                  <a:srgbClr val="00C7FF"/>
                </a:solidFill>
                <a:latin typeface="Calibri" pitchFamily="34" charset="0"/>
                <a:ea typeface="Calibri" pitchFamily="34" charset="-122"/>
                <a:cs typeface="Calibri" pitchFamily="34" charset="-120"/>
              </a:rPr>
              <a:t>MODULE 4</a:t>
            </a:r>
            <a:endParaRPr lang="en-US" sz="1500" dirty="0"/>
          </a:p>
        </p:txBody>
      </p:sp>
      <p:sp>
        <p:nvSpPr>
          <p:cNvPr id="5" name="Text 3"/>
          <p:cNvSpPr/>
          <p:nvPr/>
        </p:nvSpPr>
        <p:spPr>
          <a:xfrm>
            <a:off x="1280160" y="2880360"/>
            <a:ext cx="9628632"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Internal Evaluation Exercise</a:t>
            </a:r>
            <a:endParaRPr lang="en-US" sz="3800" dirty="0"/>
          </a:p>
        </p:txBody>
      </p:sp>
      <p:sp>
        <p:nvSpPr>
          <p:cNvPr id="6" name="Text 4"/>
          <p:cNvSpPr/>
          <p:nvPr/>
        </p:nvSpPr>
        <p:spPr>
          <a:xfrm>
            <a:off x="2194560" y="3931920"/>
            <a:ext cx="7799832" cy="548640"/>
          </a:xfrm>
          <a:prstGeom prst="rect">
            <a:avLst/>
          </a:prstGeom>
          <a:noFill/>
          <a:ln/>
        </p:spPr>
        <p:txBody>
          <a:bodyPr wrap="square" lIns="0" tIns="0" rIns="0" bIns="0" rtlCol="0" anchor="ctr"/>
          <a:lstStyle/>
          <a:p>
            <a:pPr marL="0" indent="0" algn="ctr">
              <a:buNone/>
            </a:pPr>
            <a:r>
              <a:rPr lang="en-US" sz="1400" dirty="0">
                <a:solidFill>
                  <a:srgbClr val="AFC6EF"/>
                </a:solidFill>
                <a:latin typeface="Calibri" pitchFamily="34" charset="0"/>
                <a:ea typeface="Calibri" pitchFamily="34" charset="-122"/>
                <a:cs typeface="Calibri" pitchFamily="34" charset="-120"/>
              </a:rPr>
              <a:t>Run the numbers on your own system, right now</a:t>
            </a:r>
            <a:endParaRPr lang="en-US" sz="1400" dirty="0"/>
          </a:p>
        </p:txBody>
      </p:sp>
      <p:pic>
        <p:nvPicPr>
          <p:cNvPr id="7" name="Image 0" descr="/home/claude/day4deck/logo_dark.jpg"/>
          <p:cNvPicPr>
            <a:picLocks noChangeAspect="1"/>
          </p:cNvPicPr>
          <p:nvPr/>
        </p:nvPicPr>
        <p:blipFill>
          <a:blip r:embed="rId3"/>
          <a:stretch>
            <a:fillRect/>
          </a:stretch>
        </p:blipFill>
        <p:spPr>
          <a:xfrm>
            <a:off x="457200" y="6291072"/>
            <a:ext cx="384048" cy="384048"/>
          </a:xfrm>
          <a:prstGeom prst="rect">
            <a:avLst/>
          </a:prstGeom>
        </p:spPr>
      </p:pic>
      <p:sp>
        <p:nvSpPr>
          <p:cNvPr id="8" name="Text 5"/>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AFC6EF"/>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9" name="Text 6"/>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AFC6EF"/>
                </a:solidFill>
                <a:latin typeface="Calibri" pitchFamily="34" charset="0"/>
                <a:ea typeface="Calibri" pitchFamily="34" charset="-122"/>
                <a:cs typeface="Calibri" pitchFamily="34" charset="-120"/>
              </a:rPr>
              <a:t>20</a:t>
            </a:r>
            <a:endParaRPr lang="en-US" sz="900" dirty="0"/>
          </a:p>
        </p:txBody>
      </p:sp>
      <p:pic>
        <p:nvPicPr>
          <p:cNvPr id="10" name="Google Shape;90;p1">
            <a:extLst>
              <a:ext uri="{FF2B5EF4-FFF2-40B4-BE49-F238E27FC236}">
                <a16:creationId xmlns:a16="http://schemas.microsoft.com/office/drawing/2014/main" id="{8FFF4B8F-9326-4078-844D-881CE9D9C6EF}"/>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MODULE 4 — HANDS-ON</a:t>
            </a:r>
            <a:endParaRPr lang="en-US" sz="1200" dirty="0"/>
          </a:p>
        </p:txBody>
      </p:sp>
      <p:sp>
        <p:nvSpPr>
          <p:cNvPr id="3" name="Text 1"/>
          <p:cNvSpPr/>
          <p:nvPr/>
        </p:nvSpPr>
        <p:spPr>
          <a:xfrm>
            <a:off x="548640" y="868680"/>
            <a:ext cx="96012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From Numbers to Next Steps</a:t>
            </a:r>
            <a:endParaRPr lang="en-US" sz="3200" dirty="0"/>
          </a:p>
        </p:txBody>
      </p:sp>
      <p:sp>
        <p:nvSpPr>
          <p:cNvPr id="4" name="Shape 2"/>
          <p:cNvSpPr/>
          <p:nvPr/>
        </p:nvSpPr>
        <p:spPr>
          <a:xfrm>
            <a:off x="640080" y="1828800"/>
            <a:ext cx="457200" cy="457200"/>
          </a:xfrm>
          <a:prstGeom prst="roundRect">
            <a:avLst>
              <a:gd name="adj" fmla="val 12000"/>
            </a:avLst>
          </a:prstGeom>
          <a:solidFill>
            <a:srgbClr val="0F307F"/>
          </a:solidFill>
          <a:ln/>
        </p:spPr>
      </p:sp>
      <p:sp>
        <p:nvSpPr>
          <p:cNvPr id="5" name="Text 3"/>
          <p:cNvSpPr/>
          <p:nvPr/>
        </p:nvSpPr>
        <p:spPr>
          <a:xfrm>
            <a:off x="640080" y="1828800"/>
            <a:ext cx="457200" cy="457200"/>
          </a:xfrm>
          <a:prstGeom prst="rect">
            <a:avLst/>
          </a:prstGeom>
          <a:noFill/>
          <a:ln/>
        </p:spPr>
        <p:txBody>
          <a:bodyPr wrap="square" lIns="0" tIns="0" rIns="0" bIns="0" rtlCol="0" anchor="ctr"/>
          <a:lstStyle/>
          <a:p>
            <a:pPr marL="0" indent="0" algn="ctr">
              <a:buNone/>
            </a:pPr>
            <a:r>
              <a:rPr lang="en-US" sz="1600" b="1" dirty="0">
                <a:solidFill>
                  <a:srgbClr val="00C7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280160" y="1783080"/>
            <a:ext cx="10241280" cy="59436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Run your Day 2 test set through the full pipeline (retrieval + generation + citation)</a:t>
            </a:r>
            <a:endParaRPr lang="en-US" sz="1400" dirty="0"/>
          </a:p>
        </p:txBody>
      </p:sp>
      <p:sp>
        <p:nvSpPr>
          <p:cNvPr id="7" name="Shape 5"/>
          <p:cNvSpPr/>
          <p:nvPr/>
        </p:nvSpPr>
        <p:spPr>
          <a:xfrm>
            <a:off x="640080" y="2542032"/>
            <a:ext cx="457200" cy="457200"/>
          </a:xfrm>
          <a:prstGeom prst="roundRect">
            <a:avLst>
              <a:gd name="adj" fmla="val 12000"/>
            </a:avLst>
          </a:prstGeom>
          <a:solidFill>
            <a:srgbClr val="0F307F"/>
          </a:solidFill>
          <a:ln/>
        </p:spPr>
      </p:sp>
      <p:sp>
        <p:nvSpPr>
          <p:cNvPr id="8" name="Text 6"/>
          <p:cNvSpPr/>
          <p:nvPr/>
        </p:nvSpPr>
        <p:spPr>
          <a:xfrm>
            <a:off x="640080" y="2542032"/>
            <a:ext cx="457200" cy="457200"/>
          </a:xfrm>
          <a:prstGeom prst="rect">
            <a:avLst/>
          </a:prstGeom>
          <a:noFill/>
          <a:ln/>
        </p:spPr>
        <p:txBody>
          <a:bodyPr wrap="square" lIns="0" tIns="0" rIns="0" bIns="0" rtlCol="0" anchor="ctr"/>
          <a:lstStyle/>
          <a:p>
            <a:pPr marL="0" indent="0" algn="ctr">
              <a:buNone/>
            </a:pPr>
            <a:r>
              <a:rPr lang="en-US" sz="1600" b="1" dirty="0">
                <a:solidFill>
                  <a:srgbClr val="00C7FF"/>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1280160" y="2496312"/>
            <a:ext cx="10241280" cy="59436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Score every result for Precision@k, citation accuracy, and faithfulness</a:t>
            </a:r>
            <a:endParaRPr lang="en-US" sz="1400" dirty="0"/>
          </a:p>
        </p:txBody>
      </p:sp>
      <p:sp>
        <p:nvSpPr>
          <p:cNvPr id="10" name="Shape 8"/>
          <p:cNvSpPr/>
          <p:nvPr/>
        </p:nvSpPr>
        <p:spPr>
          <a:xfrm>
            <a:off x="640080" y="3255264"/>
            <a:ext cx="457200" cy="457200"/>
          </a:xfrm>
          <a:prstGeom prst="roundRect">
            <a:avLst>
              <a:gd name="adj" fmla="val 12000"/>
            </a:avLst>
          </a:prstGeom>
          <a:solidFill>
            <a:srgbClr val="0F307F"/>
          </a:solidFill>
          <a:ln/>
        </p:spPr>
      </p:sp>
      <p:sp>
        <p:nvSpPr>
          <p:cNvPr id="11" name="Text 9"/>
          <p:cNvSpPr/>
          <p:nvPr/>
        </p:nvSpPr>
        <p:spPr>
          <a:xfrm>
            <a:off x="640080" y="3255264"/>
            <a:ext cx="457200" cy="457200"/>
          </a:xfrm>
          <a:prstGeom prst="rect">
            <a:avLst/>
          </a:prstGeom>
          <a:noFill/>
          <a:ln/>
        </p:spPr>
        <p:txBody>
          <a:bodyPr wrap="square" lIns="0" tIns="0" rIns="0" bIns="0" rtlCol="0" anchor="ctr"/>
          <a:lstStyle/>
          <a:p>
            <a:pPr marL="0" indent="0" algn="ctr">
              <a:buNone/>
            </a:pPr>
            <a:r>
              <a:rPr lang="en-US" sz="1600" b="1" dirty="0">
                <a:solidFill>
                  <a:srgbClr val="00C7FF"/>
                </a:solidFill>
                <a:latin typeface="Cambria" pitchFamily="34" charset="0"/>
                <a:ea typeface="Cambria" pitchFamily="34" charset="-122"/>
                <a:cs typeface="Cambria" pitchFamily="34" charset="-120"/>
              </a:rPr>
              <a:t>3</a:t>
            </a:r>
            <a:endParaRPr lang="en-US" sz="1600" dirty="0"/>
          </a:p>
        </p:txBody>
      </p:sp>
      <p:sp>
        <p:nvSpPr>
          <p:cNvPr id="12" name="Text 10"/>
          <p:cNvSpPr/>
          <p:nvPr/>
        </p:nvSpPr>
        <p:spPr>
          <a:xfrm>
            <a:off x="1280160" y="3209544"/>
            <a:ext cx="10241280" cy="59436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If faithfulness is low: check your grounding prompt before touching retrieval</a:t>
            </a:r>
            <a:endParaRPr lang="en-US" sz="1400" dirty="0"/>
          </a:p>
        </p:txBody>
      </p:sp>
      <p:sp>
        <p:nvSpPr>
          <p:cNvPr id="13" name="Shape 11"/>
          <p:cNvSpPr/>
          <p:nvPr/>
        </p:nvSpPr>
        <p:spPr>
          <a:xfrm>
            <a:off x="640080" y="3968496"/>
            <a:ext cx="457200" cy="457200"/>
          </a:xfrm>
          <a:prstGeom prst="roundRect">
            <a:avLst>
              <a:gd name="adj" fmla="val 12000"/>
            </a:avLst>
          </a:prstGeom>
          <a:solidFill>
            <a:srgbClr val="0F307F"/>
          </a:solidFill>
          <a:ln/>
        </p:spPr>
      </p:sp>
      <p:sp>
        <p:nvSpPr>
          <p:cNvPr id="14" name="Text 12"/>
          <p:cNvSpPr/>
          <p:nvPr/>
        </p:nvSpPr>
        <p:spPr>
          <a:xfrm>
            <a:off x="640080" y="3968496"/>
            <a:ext cx="457200" cy="457200"/>
          </a:xfrm>
          <a:prstGeom prst="rect">
            <a:avLst/>
          </a:prstGeom>
          <a:noFill/>
          <a:ln/>
        </p:spPr>
        <p:txBody>
          <a:bodyPr wrap="square" lIns="0" tIns="0" rIns="0" bIns="0" rtlCol="0" anchor="ctr"/>
          <a:lstStyle/>
          <a:p>
            <a:pPr marL="0" indent="0" algn="ctr">
              <a:buNone/>
            </a:pPr>
            <a:r>
              <a:rPr lang="en-US" sz="1600" b="1" dirty="0">
                <a:solidFill>
                  <a:srgbClr val="00C7FF"/>
                </a:solidFill>
                <a:latin typeface="Cambria" pitchFamily="34" charset="0"/>
                <a:ea typeface="Cambria" pitchFamily="34" charset="-122"/>
                <a:cs typeface="Cambria" pitchFamily="34" charset="-120"/>
              </a:rPr>
              <a:t>4</a:t>
            </a:r>
            <a:endParaRPr lang="en-US" sz="1600" dirty="0"/>
          </a:p>
        </p:txBody>
      </p:sp>
      <p:sp>
        <p:nvSpPr>
          <p:cNvPr id="15" name="Text 13"/>
          <p:cNvSpPr/>
          <p:nvPr/>
        </p:nvSpPr>
        <p:spPr>
          <a:xfrm>
            <a:off x="1280160" y="3922776"/>
            <a:ext cx="10241280" cy="59436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If citation accuracy is low: check your metadata schema before touching the model</a:t>
            </a:r>
            <a:endParaRPr lang="en-US" sz="1400" dirty="0"/>
          </a:p>
        </p:txBody>
      </p:sp>
      <p:sp>
        <p:nvSpPr>
          <p:cNvPr id="16" name="Shape 14"/>
          <p:cNvSpPr/>
          <p:nvPr/>
        </p:nvSpPr>
        <p:spPr>
          <a:xfrm>
            <a:off x="640080" y="4681728"/>
            <a:ext cx="457200" cy="457200"/>
          </a:xfrm>
          <a:prstGeom prst="roundRect">
            <a:avLst>
              <a:gd name="adj" fmla="val 12000"/>
            </a:avLst>
          </a:prstGeom>
          <a:solidFill>
            <a:srgbClr val="0F307F"/>
          </a:solidFill>
          <a:ln/>
        </p:spPr>
      </p:sp>
      <p:sp>
        <p:nvSpPr>
          <p:cNvPr id="17" name="Text 15"/>
          <p:cNvSpPr/>
          <p:nvPr/>
        </p:nvSpPr>
        <p:spPr>
          <a:xfrm>
            <a:off x="640080" y="4681728"/>
            <a:ext cx="457200" cy="457200"/>
          </a:xfrm>
          <a:prstGeom prst="rect">
            <a:avLst/>
          </a:prstGeom>
          <a:noFill/>
          <a:ln/>
        </p:spPr>
        <p:txBody>
          <a:bodyPr wrap="square" lIns="0" tIns="0" rIns="0" bIns="0" rtlCol="0" anchor="ctr"/>
          <a:lstStyle/>
          <a:p>
            <a:pPr marL="0" indent="0" algn="ctr">
              <a:buNone/>
            </a:pPr>
            <a:r>
              <a:rPr lang="en-US" sz="1600" b="1" dirty="0">
                <a:solidFill>
                  <a:srgbClr val="00C7FF"/>
                </a:solidFill>
                <a:latin typeface="Cambria" pitchFamily="34" charset="0"/>
                <a:ea typeface="Cambria" pitchFamily="34" charset="-122"/>
                <a:cs typeface="Cambria" pitchFamily="34" charset="-120"/>
              </a:rPr>
              <a:t>5</a:t>
            </a:r>
            <a:endParaRPr lang="en-US" sz="1600" dirty="0"/>
          </a:p>
        </p:txBody>
      </p:sp>
      <p:sp>
        <p:nvSpPr>
          <p:cNvPr id="18" name="Text 16"/>
          <p:cNvSpPr/>
          <p:nvPr/>
        </p:nvSpPr>
        <p:spPr>
          <a:xfrm>
            <a:off x="1280160" y="4636008"/>
            <a:ext cx="10241280" cy="594360"/>
          </a:xfrm>
          <a:prstGeom prst="rect">
            <a:avLst/>
          </a:prstGeom>
          <a:noFill/>
          <a:ln/>
        </p:spPr>
        <p:txBody>
          <a:bodyPr wrap="square" lIns="0" tIns="0" rIns="0" bIns="0" rtlCol="0" anchor="ctr"/>
          <a:lstStyle/>
          <a:p>
            <a:pPr marL="0" indent="0">
              <a:buNone/>
            </a:pPr>
            <a:r>
              <a:rPr lang="en-US" sz="1400" dirty="0">
                <a:solidFill>
                  <a:srgbClr val="111111"/>
                </a:solidFill>
                <a:latin typeface="Calibri" pitchFamily="34" charset="0"/>
                <a:ea typeface="Calibri" pitchFamily="34" charset="-122"/>
                <a:cs typeface="Calibri" pitchFamily="34" charset="-120"/>
              </a:rPr>
              <a:t>Log every score — this is what backs up tomorrow's demo</a:t>
            </a:r>
            <a:endParaRPr lang="en-US" sz="1400" dirty="0"/>
          </a:p>
        </p:txBody>
      </p:sp>
      <p:pic>
        <p:nvPicPr>
          <p:cNvPr id="19"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20" name="Text 17"/>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21" name="Text 18"/>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21</a:t>
            </a:r>
            <a:endParaRPr lang="en-US" sz="900" dirty="0"/>
          </a:p>
        </p:txBody>
      </p:sp>
      <p:pic>
        <p:nvPicPr>
          <p:cNvPr id="22" name="Google Shape;90;p1">
            <a:extLst>
              <a:ext uri="{FF2B5EF4-FFF2-40B4-BE49-F238E27FC236}">
                <a16:creationId xmlns:a16="http://schemas.microsoft.com/office/drawing/2014/main" id="{0A3AFD4A-48AD-4523-B8FD-22377C922072}"/>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BEFORE YOU START BUILDING</a:t>
            </a:r>
            <a:endParaRPr lang="en-US" sz="1200" dirty="0"/>
          </a:p>
        </p:txBody>
      </p:sp>
      <p:sp>
        <p:nvSpPr>
          <p:cNvPr id="3" name="Text 1"/>
          <p:cNvSpPr/>
          <p:nvPr/>
        </p:nvSpPr>
        <p:spPr>
          <a:xfrm>
            <a:off x="548640" y="868680"/>
            <a:ext cx="91440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Day 4 Competition Checklist</a:t>
            </a:r>
            <a:endParaRPr lang="en-US" sz="3200" dirty="0"/>
          </a:p>
        </p:txBody>
      </p:sp>
      <p:sp>
        <p:nvSpPr>
          <p:cNvPr id="4" name="Shape 2"/>
          <p:cNvSpPr/>
          <p:nvPr/>
        </p:nvSpPr>
        <p:spPr>
          <a:xfrm>
            <a:off x="548640" y="1874520"/>
            <a:ext cx="5349240" cy="868680"/>
          </a:xfrm>
          <a:prstGeom prst="roundRect">
            <a:avLst>
              <a:gd name="adj" fmla="val 6316"/>
            </a:avLst>
          </a:prstGeom>
          <a:solidFill>
            <a:srgbClr val="F1F5FC"/>
          </a:solidFill>
          <a:ln w="12700">
            <a:solidFill>
              <a:srgbClr val="DCE6F7"/>
            </a:solidFill>
            <a:prstDash val="solid"/>
          </a:ln>
        </p:spPr>
      </p:sp>
      <p:sp>
        <p:nvSpPr>
          <p:cNvPr id="5" name="Shape 3"/>
          <p:cNvSpPr/>
          <p:nvPr/>
        </p:nvSpPr>
        <p:spPr>
          <a:xfrm>
            <a:off x="731520" y="2075688"/>
            <a:ext cx="457200" cy="457200"/>
          </a:xfrm>
          <a:prstGeom prst="roundRect">
            <a:avLst>
              <a:gd name="adj" fmla="val 12000"/>
            </a:avLst>
          </a:prstGeom>
          <a:solidFill>
            <a:srgbClr val="0F307F"/>
          </a:solidFill>
          <a:ln/>
        </p:spPr>
      </p:sp>
      <p:sp>
        <p:nvSpPr>
          <p:cNvPr id="6" name="Text 4"/>
          <p:cNvSpPr/>
          <p:nvPr/>
        </p:nvSpPr>
        <p:spPr>
          <a:xfrm>
            <a:off x="731520" y="2075688"/>
            <a:ext cx="457200" cy="457200"/>
          </a:xfrm>
          <a:prstGeom prst="rect">
            <a:avLst/>
          </a:prstGeom>
          <a:noFill/>
          <a:ln/>
        </p:spPr>
        <p:txBody>
          <a:bodyPr wrap="square" lIns="0" tIns="0" rIns="0" bIns="0" rtlCol="0" anchor="ctr"/>
          <a:lstStyle/>
          <a:p>
            <a:pPr marL="0" indent="0" algn="ctr">
              <a:buNone/>
            </a:pPr>
            <a:r>
              <a:rPr lang="en-US" sz="1500" b="1" dirty="0">
                <a:solidFill>
                  <a:srgbClr val="00C7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371600" y="1874520"/>
            <a:ext cx="4343400" cy="868680"/>
          </a:xfrm>
          <a:prstGeom prst="rect">
            <a:avLst/>
          </a:prstGeom>
          <a:noFill/>
          <a:ln/>
        </p:spPr>
        <p:txBody>
          <a:bodyPr wrap="square" lIns="0" tIns="0" rIns="0" bIns="0" rtlCol="0" anchor="ctr"/>
          <a:lstStyle/>
          <a:p>
            <a:pPr marL="0" indent="0">
              <a:buNone/>
            </a:pPr>
            <a:r>
              <a:rPr lang="en-US" sz="1250" dirty="0">
                <a:solidFill>
                  <a:srgbClr val="111111"/>
                </a:solidFill>
                <a:latin typeface="Calibri" pitchFamily="34" charset="0"/>
                <a:ea typeface="Calibri" pitchFamily="34" charset="-122"/>
                <a:cs typeface="Calibri" pitchFamily="34" charset="-120"/>
              </a:rPr>
              <a:t>Confidence threshold set and calibrated against Day 2 data</a:t>
            </a:r>
            <a:endParaRPr lang="en-US" sz="1250" dirty="0"/>
          </a:p>
        </p:txBody>
      </p:sp>
      <p:sp>
        <p:nvSpPr>
          <p:cNvPr id="8" name="Shape 6"/>
          <p:cNvSpPr/>
          <p:nvPr/>
        </p:nvSpPr>
        <p:spPr>
          <a:xfrm>
            <a:off x="548640" y="2926080"/>
            <a:ext cx="5349240" cy="868680"/>
          </a:xfrm>
          <a:prstGeom prst="roundRect">
            <a:avLst>
              <a:gd name="adj" fmla="val 6316"/>
            </a:avLst>
          </a:prstGeom>
          <a:solidFill>
            <a:srgbClr val="F1F5FC"/>
          </a:solidFill>
          <a:ln w="12700">
            <a:solidFill>
              <a:srgbClr val="DCE6F7"/>
            </a:solidFill>
            <a:prstDash val="solid"/>
          </a:ln>
        </p:spPr>
      </p:sp>
      <p:sp>
        <p:nvSpPr>
          <p:cNvPr id="9" name="Shape 7"/>
          <p:cNvSpPr/>
          <p:nvPr/>
        </p:nvSpPr>
        <p:spPr>
          <a:xfrm>
            <a:off x="731520" y="3127248"/>
            <a:ext cx="457200" cy="457200"/>
          </a:xfrm>
          <a:prstGeom prst="roundRect">
            <a:avLst>
              <a:gd name="adj" fmla="val 12000"/>
            </a:avLst>
          </a:prstGeom>
          <a:solidFill>
            <a:srgbClr val="0F307F"/>
          </a:solidFill>
          <a:ln/>
        </p:spPr>
      </p:sp>
      <p:sp>
        <p:nvSpPr>
          <p:cNvPr id="10" name="Text 8"/>
          <p:cNvSpPr/>
          <p:nvPr/>
        </p:nvSpPr>
        <p:spPr>
          <a:xfrm>
            <a:off x="731520" y="3127248"/>
            <a:ext cx="457200" cy="457200"/>
          </a:xfrm>
          <a:prstGeom prst="rect">
            <a:avLst/>
          </a:prstGeom>
          <a:noFill/>
          <a:ln/>
        </p:spPr>
        <p:txBody>
          <a:bodyPr wrap="square" lIns="0" tIns="0" rIns="0" bIns="0" rtlCol="0" anchor="ctr"/>
          <a:lstStyle/>
          <a:p>
            <a:pPr marL="0" indent="0" algn="ctr">
              <a:buNone/>
            </a:pPr>
            <a:r>
              <a:rPr lang="en-US" sz="1500" b="1" dirty="0">
                <a:solidFill>
                  <a:srgbClr val="00C7FF"/>
                </a:solidFill>
                <a:latin typeface="Calibri" pitchFamily="34" charset="0"/>
                <a:ea typeface="Calibri" pitchFamily="34" charset="-122"/>
                <a:cs typeface="Calibri" pitchFamily="34" charset="-120"/>
              </a:rPr>
              <a:t>✓</a:t>
            </a:r>
            <a:endParaRPr lang="en-US" sz="1500" dirty="0"/>
          </a:p>
        </p:txBody>
      </p:sp>
      <p:sp>
        <p:nvSpPr>
          <p:cNvPr id="11" name="Text 9"/>
          <p:cNvSpPr/>
          <p:nvPr/>
        </p:nvSpPr>
        <p:spPr>
          <a:xfrm>
            <a:off x="1371600" y="2926080"/>
            <a:ext cx="4343400" cy="868680"/>
          </a:xfrm>
          <a:prstGeom prst="rect">
            <a:avLst/>
          </a:prstGeom>
          <a:noFill/>
          <a:ln/>
        </p:spPr>
        <p:txBody>
          <a:bodyPr wrap="square" lIns="0" tIns="0" rIns="0" bIns="0" rtlCol="0" anchor="ctr"/>
          <a:lstStyle/>
          <a:p>
            <a:pPr marL="0" indent="0">
              <a:buNone/>
            </a:pPr>
            <a:r>
              <a:rPr lang="en-US" sz="1250" dirty="0">
                <a:solidFill>
                  <a:srgbClr val="111111"/>
                </a:solidFill>
                <a:latin typeface="Calibri" pitchFamily="34" charset="0"/>
                <a:ea typeface="Calibri" pitchFamily="34" charset="-122"/>
                <a:cs typeface="Calibri" pitchFamily="34" charset="-120"/>
              </a:rPr>
              <a:t>Unsupported claim detection implemented and tested</a:t>
            </a:r>
            <a:endParaRPr lang="en-US" sz="1250" dirty="0"/>
          </a:p>
        </p:txBody>
      </p:sp>
      <p:sp>
        <p:nvSpPr>
          <p:cNvPr id="12" name="Shape 10"/>
          <p:cNvSpPr/>
          <p:nvPr/>
        </p:nvSpPr>
        <p:spPr>
          <a:xfrm>
            <a:off x="548640" y="3977640"/>
            <a:ext cx="5349240" cy="868680"/>
          </a:xfrm>
          <a:prstGeom prst="roundRect">
            <a:avLst>
              <a:gd name="adj" fmla="val 6316"/>
            </a:avLst>
          </a:prstGeom>
          <a:solidFill>
            <a:srgbClr val="F1F5FC"/>
          </a:solidFill>
          <a:ln w="12700">
            <a:solidFill>
              <a:srgbClr val="DCE6F7"/>
            </a:solidFill>
            <a:prstDash val="solid"/>
          </a:ln>
        </p:spPr>
      </p:sp>
      <p:sp>
        <p:nvSpPr>
          <p:cNvPr id="13" name="Shape 11"/>
          <p:cNvSpPr/>
          <p:nvPr/>
        </p:nvSpPr>
        <p:spPr>
          <a:xfrm>
            <a:off x="731520" y="4178808"/>
            <a:ext cx="457200" cy="457200"/>
          </a:xfrm>
          <a:prstGeom prst="roundRect">
            <a:avLst>
              <a:gd name="adj" fmla="val 12000"/>
            </a:avLst>
          </a:prstGeom>
          <a:solidFill>
            <a:srgbClr val="0F307F"/>
          </a:solidFill>
          <a:ln/>
        </p:spPr>
      </p:sp>
      <p:sp>
        <p:nvSpPr>
          <p:cNvPr id="14" name="Text 12"/>
          <p:cNvSpPr/>
          <p:nvPr/>
        </p:nvSpPr>
        <p:spPr>
          <a:xfrm>
            <a:off x="731520" y="4178808"/>
            <a:ext cx="457200" cy="457200"/>
          </a:xfrm>
          <a:prstGeom prst="rect">
            <a:avLst/>
          </a:prstGeom>
          <a:noFill/>
          <a:ln/>
        </p:spPr>
        <p:txBody>
          <a:bodyPr wrap="square" lIns="0" tIns="0" rIns="0" bIns="0" rtlCol="0" anchor="ctr"/>
          <a:lstStyle/>
          <a:p>
            <a:pPr marL="0" indent="0" algn="ctr">
              <a:buNone/>
            </a:pPr>
            <a:r>
              <a:rPr lang="en-US" sz="1500" b="1" dirty="0">
                <a:solidFill>
                  <a:srgbClr val="00C7FF"/>
                </a:solidFill>
                <a:latin typeface="Calibri" pitchFamily="34" charset="0"/>
                <a:ea typeface="Calibri" pitchFamily="34" charset="-122"/>
                <a:cs typeface="Calibri" pitchFamily="34" charset="-120"/>
              </a:rPr>
              <a:t>✓</a:t>
            </a:r>
            <a:endParaRPr lang="en-US" sz="1500" dirty="0"/>
          </a:p>
        </p:txBody>
      </p:sp>
      <p:sp>
        <p:nvSpPr>
          <p:cNvPr id="15" name="Text 13"/>
          <p:cNvSpPr/>
          <p:nvPr/>
        </p:nvSpPr>
        <p:spPr>
          <a:xfrm>
            <a:off x="1371600" y="3977640"/>
            <a:ext cx="4343400" cy="868680"/>
          </a:xfrm>
          <a:prstGeom prst="rect">
            <a:avLst/>
          </a:prstGeom>
          <a:noFill/>
          <a:ln/>
        </p:spPr>
        <p:txBody>
          <a:bodyPr wrap="square" lIns="0" tIns="0" rIns="0" bIns="0" rtlCol="0" anchor="ctr"/>
          <a:lstStyle/>
          <a:p>
            <a:pPr marL="0" indent="0">
              <a:buNone/>
            </a:pPr>
            <a:r>
              <a:rPr lang="en-US" sz="1250" dirty="0">
                <a:solidFill>
                  <a:srgbClr val="111111"/>
                </a:solidFill>
                <a:latin typeface="Calibri" pitchFamily="34" charset="0"/>
                <a:ea typeface="Calibri" pitchFamily="34" charset="-122"/>
                <a:cs typeface="Calibri" pitchFamily="34" charset="-120"/>
              </a:rPr>
              <a:t>Precision@k, citation accuracy, faithfulness all computed</a:t>
            </a:r>
            <a:endParaRPr lang="en-US" sz="1250" dirty="0"/>
          </a:p>
        </p:txBody>
      </p:sp>
      <p:sp>
        <p:nvSpPr>
          <p:cNvPr id="16" name="Shape 14"/>
          <p:cNvSpPr/>
          <p:nvPr/>
        </p:nvSpPr>
        <p:spPr>
          <a:xfrm>
            <a:off x="6263640" y="1874520"/>
            <a:ext cx="5349240" cy="868680"/>
          </a:xfrm>
          <a:prstGeom prst="roundRect">
            <a:avLst>
              <a:gd name="adj" fmla="val 6316"/>
            </a:avLst>
          </a:prstGeom>
          <a:solidFill>
            <a:srgbClr val="F1F5FC"/>
          </a:solidFill>
          <a:ln w="12700">
            <a:solidFill>
              <a:srgbClr val="DCE6F7"/>
            </a:solidFill>
            <a:prstDash val="solid"/>
          </a:ln>
        </p:spPr>
      </p:sp>
      <p:sp>
        <p:nvSpPr>
          <p:cNvPr id="17" name="Shape 15"/>
          <p:cNvSpPr/>
          <p:nvPr/>
        </p:nvSpPr>
        <p:spPr>
          <a:xfrm>
            <a:off x="6446520" y="2075688"/>
            <a:ext cx="457200" cy="457200"/>
          </a:xfrm>
          <a:prstGeom prst="roundRect">
            <a:avLst>
              <a:gd name="adj" fmla="val 12000"/>
            </a:avLst>
          </a:prstGeom>
          <a:solidFill>
            <a:srgbClr val="0F307F"/>
          </a:solidFill>
          <a:ln/>
        </p:spPr>
      </p:sp>
      <p:sp>
        <p:nvSpPr>
          <p:cNvPr id="18" name="Text 16"/>
          <p:cNvSpPr/>
          <p:nvPr/>
        </p:nvSpPr>
        <p:spPr>
          <a:xfrm>
            <a:off x="6446520" y="2075688"/>
            <a:ext cx="457200" cy="457200"/>
          </a:xfrm>
          <a:prstGeom prst="rect">
            <a:avLst/>
          </a:prstGeom>
          <a:noFill/>
          <a:ln/>
        </p:spPr>
        <p:txBody>
          <a:bodyPr wrap="square" lIns="0" tIns="0" rIns="0" bIns="0" rtlCol="0" anchor="ctr"/>
          <a:lstStyle/>
          <a:p>
            <a:pPr marL="0" indent="0" algn="ctr">
              <a:buNone/>
            </a:pPr>
            <a:r>
              <a:rPr lang="en-US" sz="1500" b="1" dirty="0">
                <a:solidFill>
                  <a:srgbClr val="00C7FF"/>
                </a:solidFill>
                <a:latin typeface="Calibri" pitchFamily="34" charset="0"/>
                <a:ea typeface="Calibri" pitchFamily="34" charset="-122"/>
                <a:cs typeface="Calibri" pitchFamily="34" charset="-120"/>
              </a:rPr>
              <a:t>✓</a:t>
            </a:r>
            <a:endParaRPr lang="en-US" sz="1500" dirty="0"/>
          </a:p>
        </p:txBody>
      </p:sp>
      <p:sp>
        <p:nvSpPr>
          <p:cNvPr id="19" name="Text 17"/>
          <p:cNvSpPr/>
          <p:nvPr/>
        </p:nvSpPr>
        <p:spPr>
          <a:xfrm>
            <a:off x="7086600" y="1874520"/>
            <a:ext cx="4343400" cy="868680"/>
          </a:xfrm>
          <a:prstGeom prst="rect">
            <a:avLst/>
          </a:prstGeom>
          <a:noFill/>
          <a:ln/>
        </p:spPr>
        <p:txBody>
          <a:bodyPr wrap="square" lIns="0" tIns="0" rIns="0" bIns="0" rtlCol="0" anchor="ctr"/>
          <a:lstStyle/>
          <a:p>
            <a:pPr marL="0" indent="0">
              <a:buNone/>
            </a:pPr>
            <a:r>
              <a:rPr lang="en-US" sz="1250" dirty="0">
                <a:solidFill>
                  <a:srgbClr val="111111"/>
                </a:solidFill>
                <a:latin typeface="Calibri" pitchFamily="34" charset="0"/>
                <a:ea typeface="Calibri" pitchFamily="34" charset="-122"/>
                <a:cs typeface="Calibri" pitchFamily="34" charset="-120"/>
              </a:rPr>
              <a:t>Uncertainty language calibrated to evidence strength</a:t>
            </a:r>
            <a:endParaRPr lang="en-US" sz="1250" dirty="0"/>
          </a:p>
        </p:txBody>
      </p:sp>
      <p:sp>
        <p:nvSpPr>
          <p:cNvPr id="20" name="Shape 18"/>
          <p:cNvSpPr/>
          <p:nvPr/>
        </p:nvSpPr>
        <p:spPr>
          <a:xfrm>
            <a:off x="6263640" y="2926080"/>
            <a:ext cx="5349240" cy="868680"/>
          </a:xfrm>
          <a:prstGeom prst="roundRect">
            <a:avLst>
              <a:gd name="adj" fmla="val 6316"/>
            </a:avLst>
          </a:prstGeom>
          <a:solidFill>
            <a:srgbClr val="F1F5FC"/>
          </a:solidFill>
          <a:ln w="12700">
            <a:solidFill>
              <a:srgbClr val="DCE6F7"/>
            </a:solidFill>
            <a:prstDash val="solid"/>
          </a:ln>
        </p:spPr>
      </p:sp>
      <p:sp>
        <p:nvSpPr>
          <p:cNvPr id="21" name="Shape 19"/>
          <p:cNvSpPr/>
          <p:nvPr/>
        </p:nvSpPr>
        <p:spPr>
          <a:xfrm>
            <a:off x="6446520" y="3127248"/>
            <a:ext cx="457200" cy="457200"/>
          </a:xfrm>
          <a:prstGeom prst="roundRect">
            <a:avLst>
              <a:gd name="adj" fmla="val 12000"/>
            </a:avLst>
          </a:prstGeom>
          <a:solidFill>
            <a:srgbClr val="0F307F"/>
          </a:solidFill>
          <a:ln/>
        </p:spPr>
      </p:sp>
      <p:sp>
        <p:nvSpPr>
          <p:cNvPr id="22" name="Text 20"/>
          <p:cNvSpPr/>
          <p:nvPr/>
        </p:nvSpPr>
        <p:spPr>
          <a:xfrm>
            <a:off x="6446520" y="3127248"/>
            <a:ext cx="457200" cy="457200"/>
          </a:xfrm>
          <a:prstGeom prst="rect">
            <a:avLst/>
          </a:prstGeom>
          <a:noFill/>
          <a:ln/>
        </p:spPr>
        <p:txBody>
          <a:bodyPr wrap="square" lIns="0" tIns="0" rIns="0" bIns="0" rtlCol="0" anchor="ctr"/>
          <a:lstStyle/>
          <a:p>
            <a:pPr marL="0" indent="0" algn="ctr">
              <a:buNone/>
            </a:pPr>
            <a:r>
              <a:rPr lang="en-US" sz="1500" b="1" dirty="0">
                <a:solidFill>
                  <a:srgbClr val="00C7FF"/>
                </a:solidFill>
                <a:latin typeface="Calibri" pitchFamily="34" charset="0"/>
                <a:ea typeface="Calibri" pitchFamily="34" charset="-122"/>
                <a:cs typeface="Calibri" pitchFamily="34" charset="-120"/>
              </a:rPr>
              <a:t>✓</a:t>
            </a:r>
            <a:endParaRPr lang="en-US" sz="1500" dirty="0"/>
          </a:p>
        </p:txBody>
      </p:sp>
      <p:sp>
        <p:nvSpPr>
          <p:cNvPr id="23" name="Text 21"/>
          <p:cNvSpPr/>
          <p:nvPr/>
        </p:nvSpPr>
        <p:spPr>
          <a:xfrm>
            <a:off x="7086600" y="2926080"/>
            <a:ext cx="4343400" cy="868680"/>
          </a:xfrm>
          <a:prstGeom prst="rect">
            <a:avLst/>
          </a:prstGeom>
          <a:noFill/>
          <a:ln/>
        </p:spPr>
        <p:txBody>
          <a:bodyPr wrap="square" lIns="0" tIns="0" rIns="0" bIns="0" rtlCol="0" anchor="ctr"/>
          <a:lstStyle/>
          <a:p>
            <a:pPr marL="0" indent="0">
              <a:buNone/>
            </a:pPr>
            <a:r>
              <a:rPr lang="en-US" sz="1250" dirty="0">
                <a:solidFill>
                  <a:srgbClr val="111111"/>
                </a:solidFill>
                <a:latin typeface="Calibri" pitchFamily="34" charset="0"/>
                <a:ea typeface="Calibri" pitchFamily="34" charset="-122"/>
                <a:cs typeface="Calibri" pitchFamily="34" charset="-120"/>
              </a:rPr>
              <a:t>Responsible AI checklist reviewed as a team</a:t>
            </a:r>
            <a:endParaRPr lang="en-US" sz="1250" dirty="0"/>
          </a:p>
        </p:txBody>
      </p:sp>
      <p:sp>
        <p:nvSpPr>
          <p:cNvPr id="24" name="Shape 22"/>
          <p:cNvSpPr/>
          <p:nvPr/>
        </p:nvSpPr>
        <p:spPr>
          <a:xfrm>
            <a:off x="6263640" y="3977640"/>
            <a:ext cx="5349240" cy="868680"/>
          </a:xfrm>
          <a:prstGeom prst="roundRect">
            <a:avLst>
              <a:gd name="adj" fmla="val 6316"/>
            </a:avLst>
          </a:prstGeom>
          <a:solidFill>
            <a:srgbClr val="F1F5FC"/>
          </a:solidFill>
          <a:ln w="12700">
            <a:solidFill>
              <a:srgbClr val="DCE6F7"/>
            </a:solidFill>
            <a:prstDash val="solid"/>
          </a:ln>
        </p:spPr>
      </p:sp>
      <p:sp>
        <p:nvSpPr>
          <p:cNvPr id="25" name="Shape 23"/>
          <p:cNvSpPr/>
          <p:nvPr/>
        </p:nvSpPr>
        <p:spPr>
          <a:xfrm>
            <a:off x="6446520" y="4178808"/>
            <a:ext cx="457200" cy="457200"/>
          </a:xfrm>
          <a:prstGeom prst="roundRect">
            <a:avLst>
              <a:gd name="adj" fmla="val 12000"/>
            </a:avLst>
          </a:prstGeom>
          <a:solidFill>
            <a:srgbClr val="0F307F"/>
          </a:solidFill>
          <a:ln/>
        </p:spPr>
      </p:sp>
      <p:sp>
        <p:nvSpPr>
          <p:cNvPr id="26" name="Text 24"/>
          <p:cNvSpPr/>
          <p:nvPr/>
        </p:nvSpPr>
        <p:spPr>
          <a:xfrm>
            <a:off x="6446520" y="4178808"/>
            <a:ext cx="457200" cy="457200"/>
          </a:xfrm>
          <a:prstGeom prst="rect">
            <a:avLst/>
          </a:prstGeom>
          <a:noFill/>
          <a:ln/>
        </p:spPr>
        <p:txBody>
          <a:bodyPr wrap="square" lIns="0" tIns="0" rIns="0" bIns="0" rtlCol="0" anchor="ctr"/>
          <a:lstStyle/>
          <a:p>
            <a:pPr marL="0" indent="0" algn="ctr">
              <a:buNone/>
            </a:pPr>
            <a:r>
              <a:rPr lang="en-US" sz="1500" b="1" dirty="0">
                <a:solidFill>
                  <a:srgbClr val="00C7FF"/>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7086600" y="3977640"/>
            <a:ext cx="4343400" cy="868680"/>
          </a:xfrm>
          <a:prstGeom prst="rect">
            <a:avLst/>
          </a:prstGeom>
          <a:noFill/>
          <a:ln/>
        </p:spPr>
        <p:txBody>
          <a:bodyPr wrap="square" lIns="0" tIns="0" rIns="0" bIns="0" rtlCol="0" anchor="ctr"/>
          <a:lstStyle/>
          <a:p>
            <a:pPr marL="0" indent="0">
              <a:buNone/>
            </a:pPr>
            <a:r>
              <a:rPr lang="en-US" sz="1250" dirty="0">
                <a:solidFill>
                  <a:srgbClr val="111111"/>
                </a:solidFill>
                <a:latin typeface="Calibri" pitchFamily="34" charset="0"/>
                <a:ea typeface="Calibri" pitchFamily="34" charset="-122"/>
                <a:cs typeface="Calibri" pitchFamily="34" charset="-120"/>
              </a:rPr>
              <a:t>Full evaluation log saved and ready to present</a:t>
            </a:r>
            <a:endParaRPr lang="en-US" sz="1250" dirty="0"/>
          </a:p>
        </p:txBody>
      </p:sp>
      <p:pic>
        <p:nvPicPr>
          <p:cNvPr id="28"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29" name="Text 26"/>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30" name="Text 27"/>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22</a:t>
            </a:r>
            <a:endParaRPr lang="en-US" sz="900" dirty="0"/>
          </a:p>
        </p:txBody>
      </p:sp>
      <p:pic>
        <p:nvPicPr>
          <p:cNvPr id="31" name="Google Shape;90;p1">
            <a:extLst>
              <a:ext uri="{FF2B5EF4-FFF2-40B4-BE49-F238E27FC236}">
                <a16:creationId xmlns:a16="http://schemas.microsoft.com/office/drawing/2014/main" id="{822FC787-33D3-4813-A66A-9DD5396F20D3}"/>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LEARN FROM PAST COHORTS</a:t>
            </a:r>
            <a:endParaRPr lang="en-US" sz="1200" dirty="0"/>
          </a:p>
        </p:txBody>
      </p:sp>
      <p:sp>
        <p:nvSpPr>
          <p:cNvPr id="3" name="Text 1"/>
          <p:cNvSpPr/>
          <p:nvPr/>
        </p:nvSpPr>
        <p:spPr>
          <a:xfrm>
            <a:off x="548640" y="868680"/>
            <a:ext cx="91440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Common Day 4 Pitfalls to Avoid</a:t>
            </a:r>
            <a:endParaRPr lang="en-US" sz="3200" dirty="0"/>
          </a:p>
        </p:txBody>
      </p:sp>
      <p:sp>
        <p:nvSpPr>
          <p:cNvPr id="4" name="Shape 2"/>
          <p:cNvSpPr/>
          <p:nvPr/>
        </p:nvSpPr>
        <p:spPr>
          <a:xfrm>
            <a:off x="548640" y="1874520"/>
            <a:ext cx="5349240" cy="1463040"/>
          </a:xfrm>
          <a:prstGeom prst="roundRect">
            <a:avLst>
              <a:gd name="adj" fmla="val 5000"/>
            </a:avLst>
          </a:prstGeom>
          <a:solidFill>
            <a:srgbClr val="163B95"/>
          </a:solidFill>
          <a:ln/>
        </p:spPr>
      </p:sp>
      <p:sp>
        <p:nvSpPr>
          <p:cNvPr id="5" name="Text 3"/>
          <p:cNvSpPr/>
          <p:nvPr/>
        </p:nvSpPr>
        <p:spPr>
          <a:xfrm>
            <a:off x="822960" y="2103120"/>
            <a:ext cx="548640" cy="457200"/>
          </a:xfrm>
          <a:prstGeom prst="rect">
            <a:avLst/>
          </a:prstGeom>
          <a:noFill/>
          <a:ln/>
        </p:spPr>
        <p:txBody>
          <a:bodyPr wrap="square" lIns="0" tIns="0" rIns="0" bIns="0" rtlCol="0" anchor="ctr"/>
          <a:lstStyle/>
          <a:p>
            <a:pPr marL="0" indent="0">
              <a:buNone/>
            </a:pPr>
            <a:r>
              <a:rPr lang="en-US" sz="2000" dirty="0">
                <a:solidFill>
                  <a:srgbClr val="00C7FF"/>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1371600" y="2057400"/>
            <a:ext cx="425196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One threshold for every query type</a:t>
            </a:r>
            <a:endParaRPr lang="en-US" sz="1600" dirty="0"/>
          </a:p>
        </p:txBody>
      </p:sp>
      <p:sp>
        <p:nvSpPr>
          <p:cNvPr id="7" name="Text 5"/>
          <p:cNvSpPr/>
          <p:nvPr/>
        </p:nvSpPr>
        <p:spPr>
          <a:xfrm>
            <a:off x="1371600" y="2496312"/>
            <a:ext cx="4251960" cy="731520"/>
          </a:xfrm>
          <a:prstGeom prst="rect">
            <a:avLst/>
          </a:prstGeom>
          <a:noFill/>
          <a:ln/>
        </p:spPr>
        <p:txBody>
          <a:bodyPr wrap="square" lIns="0" tIns="0" rIns="0" bIns="0" rtlCol="0" anchor="t"/>
          <a:lstStyle/>
          <a:p>
            <a:pPr marL="0" indent="0">
              <a:buNone/>
            </a:pPr>
            <a:r>
              <a:rPr lang="en-US" sz="1200" dirty="0">
                <a:solidFill>
                  <a:srgbClr val="AFC6EF"/>
                </a:solidFill>
                <a:latin typeface="Calibri" pitchFamily="34" charset="0"/>
                <a:ea typeface="Calibri" pitchFamily="34" charset="-122"/>
                <a:cs typeface="Calibri" pitchFamily="34" charset="-120"/>
              </a:rPr>
              <a:t>Not accounting for how query difficulty varies across topics</a:t>
            </a:r>
            <a:endParaRPr lang="en-US" sz="1200" dirty="0"/>
          </a:p>
        </p:txBody>
      </p:sp>
      <p:sp>
        <p:nvSpPr>
          <p:cNvPr id="8" name="Shape 6"/>
          <p:cNvSpPr/>
          <p:nvPr/>
        </p:nvSpPr>
        <p:spPr>
          <a:xfrm>
            <a:off x="6263640" y="1874520"/>
            <a:ext cx="5349240" cy="1463040"/>
          </a:xfrm>
          <a:prstGeom prst="roundRect">
            <a:avLst>
              <a:gd name="adj" fmla="val 5000"/>
            </a:avLst>
          </a:prstGeom>
          <a:solidFill>
            <a:srgbClr val="163B95"/>
          </a:solidFill>
          <a:ln/>
        </p:spPr>
      </p:sp>
      <p:sp>
        <p:nvSpPr>
          <p:cNvPr id="9" name="Text 7"/>
          <p:cNvSpPr/>
          <p:nvPr/>
        </p:nvSpPr>
        <p:spPr>
          <a:xfrm>
            <a:off x="6537960" y="2103120"/>
            <a:ext cx="548640" cy="457200"/>
          </a:xfrm>
          <a:prstGeom prst="rect">
            <a:avLst/>
          </a:prstGeom>
          <a:noFill/>
          <a:ln/>
        </p:spPr>
        <p:txBody>
          <a:bodyPr wrap="square" lIns="0" tIns="0" rIns="0" bIns="0" rtlCol="0" anchor="ctr"/>
          <a:lstStyle/>
          <a:p>
            <a:pPr marL="0" indent="0">
              <a:buNone/>
            </a:pPr>
            <a:r>
              <a:rPr lang="en-US" sz="2000" dirty="0">
                <a:solidFill>
                  <a:srgbClr val="00C7FF"/>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7086600" y="2057400"/>
            <a:ext cx="425196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Metrics computed once, never rerun</a:t>
            </a:r>
            <a:endParaRPr lang="en-US" sz="1600" dirty="0"/>
          </a:p>
        </p:txBody>
      </p:sp>
      <p:sp>
        <p:nvSpPr>
          <p:cNvPr id="11" name="Text 9"/>
          <p:cNvSpPr/>
          <p:nvPr/>
        </p:nvSpPr>
        <p:spPr>
          <a:xfrm>
            <a:off x="7086600" y="2496312"/>
            <a:ext cx="4251960" cy="731520"/>
          </a:xfrm>
          <a:prstGeom prst="rect">
            <a:avLst/>
          </a:prstGeom>
          <a:noFill/>
          <a:ln/>
        </p:spPr>
        <p:txBody>
          <a:bodyPr wrap="square" lIns="0" tIns="0" rIns="0" bIns="0" rtlCol="0" anchor="t"/>
          <a:lstStyle/>
          <a:p>
            <a:pPr marL="0" indent="0">
              <a:buNone/>
            </a:pPr>
            <a:r>
              <a:rPr lang="en-US" sz="1200" dirty="0">
                <a:solidFill>
                  <a:srgbClr val="AFC6EF"/>
                </a:solidFill>
                <a:latin typeface="Calibri" pitchFamily="34" charset="0"/>
                <a:ea typeface="Calibri" pitchFamily="34" charset="-122"/>
                <a:cs typeface="Calibri" pitchFamily="34" charset="-120"/>
              </a:rPr>
              <a:t>Not re-scoring after fixing an issue, so the fix is never verified</a:t>
            </a:r>
            <a:endParaRPr lang="en-US" sz="1200" dirty="0"/>
          </a:p>
        </p:txBody>
      </p:sp>
      <p:sp>
        <p:nvSpPr>
          <p:cNvPr id="12" name="Shape 10"/>
          <p:cNvSpPr/>
          <p:nvPr/>
        </p:nvSpPr>
        <p:spPr>
          <a:xfrm>
            <a:off x="548640" y="3566160"/>
            <a:ext cx="5349240" cy="1463040"/>
          </a:xfrm>
          <a:prstGeom prst="roundRect">
            <a:avLst>
              <a:gd name="adj" fmla="val 5000"/>
            </a:avLst>
          </a:prstGeom>
          <a:solidFill>
            <a:srgbClr val="163B95"/>
          </a:solidFill>
          <a:ln/>
        </p:spPr>
      </p:sp>
      <p:sp>
        <p:nvSpPr>
          <p:cNvPr id="13" name="Text 11"/>
          <p:cNvSpPr/>
          <p:nvPr/>
        </p:nvSpPr>
        <p:spPr>
          <a:xfrm>
            <a:off x="822960" y="3794760"/>
            <a:ext cx="548640" cy="457200"/>
          </a:xfrm>
          <a:prstGeom prst="rect">
            <a:avLst/>
          </a:prstGeom>
          <a:noFill/>
          <a:ln/>
        </p:spPr>
        <p:txBody>
          <a:bodyPr wrap="square" lIns="0" tIns="0" rIns="0" bIns="0" rtlCol="0" anchor="ctr"/>
          <a:lstStyle/>
          <a:p>
            <a:pPr marL="0" indent="0">
              <a:buNone/>
            </a:pPr>
            <a:r>
              <a:rPr lang="en-US" sz="2000" dirty="0">
                <a:solidFill>
                  <a:srgbClr val="00C7FF"/>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371600" y="3749040"/>
            <a:ext cx="425196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Confident language regardless of score</a:t>
            </a:r>
            <a:endParaRPr lang="en-US" sz="1600" dirty="0"/>
          </a:p>
        </p:txBody>
      </p:sp>
      <p:sp>
        <p:nvSpPr>
          <p:cNvPr id="15" name="Text 13"/>
          <p:cNvSpPr/>
          <p:nvPr/>
        </p:nvSpPr>
        <p:spPr>
          <a:xfrm>
            <a:off x="1371600" y="4187952"/>
            <a:ext cx="4251960" cy="731520"/>
          </a:xfrm>
          <a:prstGeom prst="rect">
            <a:avLst/>
          </a:prstGeom>
          <a:noFill/>
          <a:ln/>
        </p:spPr>
        <p:txBody>
          <a:bodyPr wrap="square" lIns="0" tIns="0" rIns="0" bIns="0" rtlCol="0" anchor="t"/>
          <a:lstStyle/>
          <a:p>
            <a:pPr marL="0" indent="0">
              <a:buNone/>
            </a:pPr>
            <a:r>
              <a:rPr lang="en-US" sz="1200" dirty="0">
                <a:solidFill>
                  <a:srgbClr val="AFC6EF"/>
                </a:solidFill>
                <a:latin typeface="Calibri" pitchFamily="34" charset="0"/>
                <a:ea typeface="Calibri" pitchFamily="34" charset="-122"/>
                <a:cs typeface="Calibri" pitchFamily="34" charset="-120"/>
              </a:rPr>
              <a:t>The prompt still sounds certain even when faithfulness is low</a:t>
            </a:r>
            <a:endParaRPr lang="en-US" sz="1200" dirty="0"/>
          </a:p>
        </p:txBody>
      </p:sp>
      <p:sp>
        <p:nvSpPr>
          <p:cNvPr id="16" name="Shape 14"/>
          <p:cNvSpPr/>
          <p:nvPr/>
        </p:nvSpPr>
        <p:spPr>
          <a:xfrm>
            <a:off x="6263640" y="3566160"/>
            <a:ext cx="5349240" cy="1463040"/>
          </a:xfrm>
          <a:prstGeom prst="roundRect">
            <a:avLst>
              <a:gd name="adj" fmla="val 5000"/>
            </a:avLst>
          </a:prstGeom>
          <a:solidFill>
            <a:srgbClr val="163B95"/>
          </a:solidFill>
          <a:ln/>
        </p:spPr>
      </p:sp>
      <p:sp>
        <p:nvSpPr>
          <p:cNvPr id="17" name="Text 15"/>
          <p:cNvSpPr/>
          <p:nvPr/>
        </p:nvSpPr>
        <p:spPr>
          <a:xfrm>
            <a:off x="6537960" y="3794760"/>
            <a:ext cx="548640" cy="457200"/>
          </a:xfrm>
          <a:prstGeom prst="rect">
            <a:avLst/>
          </a:prstGeom>
          <a:noFill/>
          <a:ln/>
        </p:spPr>
        <p:txBody>
          <a:bodyPr wrap="square" lIns="0" tIns="0" rIns="0" bIns="0" rtlCol="0" anchor="ctr"/>
          <a:lstStyle/>
          <a:p>
            <a:pPr marL="0" indent="0">
              <a:buNone/>
            </a:pPr>
            <a:r>
              <a:rPr lang="en-US" sz="2000" dirty="0">
                <a:solidFill>
                  <a:srgbClr val="00C7FF"/>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7086600" y="3749040"/>
            <a:ext cx="425196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Skipping the team review</a:t>
            </a:r>
            <a:endParaRPr lang="en-US" sz="1600" dirty="0"/>
          </a:p>
        </p:txBody>
      </p:sp>
      <p:sp>
        <p:nvSpPr>
          <p:cNvPr id="19" name="Text 17"/>
          <p:cNvSpPr/>
          <p:nvPr/>
        </p:nvSpPr>
        <p:spPr>
          <a:xfrm>
            <a:off x="7086600" y="4187952"/>
            <a:ext cx="4251960" cy="731520"/>
          </a:xfrm>
          <a:prstGeom prst="rect">
            <a:avLst/>
          </a:prstGeom>
          <a:noFill/>
          <a:ln/>
        </p:spPr>
        <p:txBody>
          <a:bodyPr wrap="square" lIns="0" tIns="0" rIns="0" bIns="0" rtlCol="0" anchor="t"/>
          <a:lstStyle/>
          <a:p>
            <a:pPr marL="0" indent="0">
              <a:buNone/>
            </a:pPr>
            <a:r>
              <a:rPr lang="en-US" sz="1200" dirty="0">
                <a:solidFill>
                  <a:srgbClr val="AFC6EF"/>
                </a:solidFill>
                <a:latin typeface="Calibri" pitchFamily="34" charset="0"/>
                <a:ea typeface="Calibri" pitchFamily="34" charset="-122"/>
                <a:cs typeface="Calibri" pitchFamily="34" charset="-120"/>
              </a:rPr>
              <a:t>Nobody actually reads the responsible AI checklist together</a:t>
            </a:r>
            <a:endParaRPr lang="en-US" sz="1200" dirty="0"/>
          </a:p>
        </p:txBody>
      </p:sp>
      <p:pic>
        <p:nvPicPr>
          <p:cNvPr id="20"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21" name="Text 18"/>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22" name="Text 19"/>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23</a:t>
            </a:r>
            <a:endParaRPr lang="en-US" sz="900" dirty="0"/>
          </a:p>
        </p:txBody>
      </p:sp>
      <p:pic>
        <p:nvPicPr>
          <p:cNvPr id="23" name="Google Shape;90;p1">
            <a:extLst>
              <a:ext uri="{FF2B5EF4-FFF2-40B4-BE49-F238E27FC236}">
                <a16:creationId xmlns:a16="http://schemas.microsoft.com/office/drawing/2014/main" id="{6D0E9B62-68B1-458F-BA9D-3FE8701DABBF}"/>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200" b="1" kern="0" spc="200" dirty="0">
                <a:solidFill>
                  <a:srgbClr val="00C7FF"/>
                </a:solidFill>
                <a:latin typeface="Calibri" pitchFamily="34" charset="0"/>
                <a:ea typeface="Calibri" pitchFamily="34" charset="-122"/>
                <a:cs typeface="Calibri" pitchFamily="34" charset="-120"/>
              </a:rPr>
              <a:t>DEFINITION OF DONE</a:t>
            </a:r>
            <a:endParaRPr lang="en-US" sz="1200" dirty="0"/>
          </a:p>
        </p:txBody>
      </p:sp>
      <p:sp>
        <p:nvSpPr>
          <p:cNvPr id="3" name="Text 1"/>
          <p:cNvSpPr/>
          <p:nvPr/>
        </p:nvSpPr>
        <p:spPr>
          <a:xfrm>
            <a:off x="548640" y="868680"/>
            <a:ext cx="9601200" cy="731520"/>
          </a:xfrm>
          <a:prstGeom prst="rect">
            <a:avLst/>
          </a:prstGeom>
          <a:noFill/>
          <a:ln/>
        </p:spPr>
        <p:txBody>
          <a:bodyPr wrap="square" lIns="0" tIns="0" rIns="0" bIns="0" rtlCol="0" anchor="ctr"/>
          <a:lstStyle/>
          <a:p>
            <a:pPr marL="0" indent="0">
              <a:buNone/>
            </a:pPr>
            <a:r>
              <a:rPr lang="en-US" sz="3200" b="1" dirty="0">
                <a:solidFill>
                  <a:srgbClr val="111111"/>
                </a:solidFill>
                <a:latin typeface="Cambria" pitchFamily="34" charset="0"/>
                <a:ea typeface="Cambria" pitchFamily="34" charset="-122"/>
                <a:cs typeface="Cambria" pitchFamily="34" charset="-120"/>
              </a:rPr>
              <a:t>What “Done” Looks Like at the End</a:t>
            </a:r>
            <a:endParaRPr lang="en-US" sz="3200" dirty="0"/>
          </a:p>
        </p:txBody>
      </p:sp>
      <p:sp>
        <p:nvSpPr>
          <p:cNvPr id="4" name="Shape 2"/>
          <p:cNvSpPr/>
          <p:nvPr/>
        </p:nvSpPr>
        <p:spPr>
          <a:xfrm>
            <a:off x="548640" y="1920240"/>
            <a:ext cx="10881360" cy="3566160"/>
          </a:xfrm>
          <a:prstGeom prst="roundRect">
            <a:avLst>
              <a:gd name="adj" fmla="val 2051"/>
            </a:avLst>
          </a:prstGeom>
          <a:solidFill>
            <a:srgbClr val="F1F5FC"/>
          </a:solidFill>
          <a:ln w="12700">
            <a:solidFill>
              <a:srgbClr val="DCE6F7"/>
            </a:solidFill>
            <a:prstDash val="solid"/>
          </a:ln>
        </p:spPr>
      </p:sp>
      <p:sp>
        <p:nvSpPr>
          <p:cNvPr id="5" name="Shape 3"/>
          <p:cNvSpPr/>
          <p:nvPr/>
        </p:nvSpPr>
        <p:spPr>
          <a:xfrm>
            <a:off x="914400" y="2286000"/>
            <a:ext cx="457200" cy="457200"/>
          </a:xfrm>
          <a:prstGeom prst="roundRect">
            <a:avLst>
              <a:gd name="adj" fmla="val 50000"/>
            </a:avLst>
          </a:prstGeom>
          <a:solidFill>
            <a:srgbClr val="00C7FF"/>
          </a:solidFill>
          <a:ln/>
        </p:spPr>
      </p:sp>
      <p:sp>
        <p:nvSpPr>
          <p:cNvPr id="6" name="Text 4"/>
          <p:cNvSpPr/>
          <p:nvPr/>
        </p:nvSpPr>
        <p:spPr>
          <a:xfrm>
            <a:off x="914400" y="2286000"/>
            <a:ext cx="457200" cy="457200"/>
          </a:xfrm>
          <a:prstGeom prst="rect">
            <a:avLst/>
          </a:prstGeom>
          <a:noFill/>
          <a:ln/>
        </p:spPr>
        <p:txBody>
          <a:bodyPr wrap="square" lIns="0" tIns="0" rIns="0" bIns="0" rtlCol="0" anchor="ctr"/>
          <a:lstStyle/>
          <a:p>
            <a:pPr marL="0" indent="0" algn="ctr">
              <a:buNone/>
            </a:pPr>
            <a:r>
              <a:rPr lang="en-US" sz="1600" b="1" dirty="0">
                <a:solidFill>
                  <a:srgbClr val="0F307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54480" y="2240280"/>
            <a:ext cx="9509760" cy="685800"/>
          </a:xfrm>
          <a:prstGeom prst="rect">
            <a:avLst/>
          </a:prstGeom>
          <a:noFill/>
          <a:ln/>
        </p:spPr>
        <p:txBody>
          <a:bodyPr wrap="square" lIns="0" tIns="0" rIns="0" bIns="0" rtlCol="0" anchor="ctr"/>
          <a:lstStyle/>
          <a:p>
            <a:pPr marL="0" indent="0">
              <a:buNone/>
            </a:pPr>
            <a:r>
              <a:rPr lang="en-US" sz="1450" dirty="0">
                <a:solidFill>
                  <a:srgbClr val="111111"/>
                </a:solidFill>
                <a:latin typeface="Calibri" pitchFamily="34" charset="0"/>
                <a:ea typeface="Calibri" pitchFamily="34" charset="-122"/>
                <a:cs typeface="Calibri" pitchFamily="34" charset="-120"/>
              </a:rPr>
              <a:t>A calibrated confidence threshold with unsupported-claim detection running live</a:t>
            </a:r>
            <a:endParaRPr lang="en-US" sz="1450" dirty="0"/>
          </a:p>
        </p:txBody>
      </p:sp>
      <p:sp>
        <p:nvSpPr>
          <p:cNvPr id="8" name="Shape 6"/>
          <p:cNvSpPr/>
          <p:nvPr/>
        </p:nvSpPr>
        <p:spPr>
          <a:xfrm>
            <a:off x="914400" y="3063240"/>
            <a:ext cx="457200" cy="457200"/>
          </a:xfrm>
          <a:prstGeom prst="roundRect">
            <a:avLst>
              <a:gd name="adj" fmla="val 50000"/>
            </a:avLst>
          </a:prstGeom>
          <a:solidFill>
            <a:srgbClr val="00C7FF"/>
          </a:solidFill>
          <a:ln/>
        </p:spPr>
      </p:sp>
      <p:sp>
        <p:nvSpPr>
          <p:cNvPr id="9" name="Text 7"/>
          <p:cNvSpPr/>
          <p:nvPr/>
        </p:nvSpPr>
        <p:spPr>
          <a:xfrm>
            <a:off x="914400" y="3063240"/>
            <a:ext cx="457200" cy="457200"/>
          </a:xfrm>
          <a:prstGeom prst="rect">
            <a:avLst/>
          </a:prstGeom>
          <a:noFill/>
          <a:ln/>
        </p:spPr>
        <p:txBody>
          <a:bodyPr wrap="square" lIns="0" tIns="0" rIns="0" bIns="0" rtlCol="0" anchor="ctr"/>
          <a:lstStyle/>
          <a:p>
            <a:pPr marL="0" indent="0" algn="ctr">
              <a:buNone/>
            </a:pPr>
            <a:r>
              <a:rPr lang="en-US" sz="1600" b="1" dirty="0">
                <a:solidFill>
                  <a:srgbClr val="0F307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554480" y="3017520"/>
            <a:ext cx="9509760" cy="685800"/>
          </a:xfrm>
          <a:prstGeom prst="rect">
            <a:avLst/>
          </a:prstGeom>
          <a:noFill/>
          <a:ln/>
        </p:spPr>
        <p:txBody>
          <a:bodyPr wrap="square" lIns="0" tIns="0" rIns="0" bIns="0" rtlCol="0" anchor="ctr"/>
          <a:lstStyle/>
          <a:p>
            <a:pPr marL="0" indent="0">
              <a:buNone/>
            </a:pPr>
            <a:r>
              <a:rPr lang="en-US" sz="1450" dirty="0">
                <a:solidFill>
                  <a:srgbClr val="111111"/>
                </a:solidFill>
                <a:latin typeface="Calibri" pitchFamily="34" charset="0"/>
                <a:ea typeface="Calibri" pitchFamily="34" charset="-122"/>
                <a:cs typeface="Calibri" pitchFamily="34" charset="-120"/>
              </a:rPr>
              <a:t>Full evaluation numbers: Precision@k, citation accuracy, and faithfulness</a:t>
            </a:r>
            <a:endParaRPr lang="en-US" sz="1450" dirty="0"/>
          </a:p>
        </p:txBody>
      </p:sp>
      <p:sp>
        <p:nvSpPr>
          <p:cNvPr id="11" name="Shape 9"/>
          <p:cNvSpPr/>
          <p:nvPr/>
        </p:nvSpPr>
        <p:spPr>
          <a:xfrm>
            <a:off x="914400" y="3840480"/>
            <a:ext cx="457200" cy="457200"/>
          </a:xfrm>
          <a:prstGeom prst="roundRect">
            <a:avLst>
              <a:gd name="adj" fmla="val 50000"/>
            </a:avLst>
          </a:prstGeom>
          <a:solidFill>
            <a:srgbClr val="00C7FF"/>
          </a:solidFill>
          <a:ln/>
        </p:spPr>
      </p:sp>
      <p:sp>
        <p:nvSpPr>
          <p:cNvPr id="12" name="Text 10"/>
          <p:cNvSpPr/>
          <p:nvPr/>
        </p:nvSpPr>
        <p:spPr>
          <a:xfrm>
            <a:off x="914400" y="3840480"/>
            <a:ext cx="457200" cy="457200"/>
          </a:xfrm>
          <a:prstGeom prst="rect">
            <a:avLst/>
          </a:prstGeom>
          <a:noFill/>
          <a:ln/>
        </p:spPr>
        <p:txBody>
          <a:bodyPr wrap="square" lIns="0" tIns="0" rIns="0" bIns="0" rtlCol="0" anchor="ctr"/>
          <a:lstStyle/>
          <a:p>
            <a:pPr marL="0" indent="0" algn="ctr">
              <a:buNone/>
            </a:pPr>
            <a:r>
              <a:rPr lang="en-US" sz="1600" b="1" dirty="0">
                <a:solidFill>
                  <a:srgbClr val="0F307F"/>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1554480" y="3794760"/>
            <a:ext cx="9509760" cy="685800"/>
          </a:xfrm>
          <a:prstGeom prst="rect">
            <a:avLst/>
          </a:prstGeom>
          <a:noFill/>
          <a:ln/>
        </p:spPr>
        <p:txBody>
          <a:bodyPr wrap="square" lIns="0" tIns="0" rIns="0" bIns="0" rtlCol="0" anchor="ctr"/>
          <a:lstStyle/>
          <a:p>
            <a:pPr marL="0" indent="0">
              <a:buNone/>
            </a:pPr>
            <a:r>
              <a:rPr lang="en-US" sz="1450" dirty="0">
                <a:solidFill>
                  <a:srgbClr val="111111"/>
                </a:solidFill>
                <a:latin typeface="Calibri" pitchFamily="34" charset="0"/>
                <a:ea typeface="Calibri" pitchFamily="34" charset="-122"/>
                <a:cs typeface="Calibri" pitchFamily="34" charset="-120"/>
              </a:rPr>
              <a:t>Uncertainty language that honestly reflects evidence strength</a:t>
            </a:r>
            <a:endParaRPr lang="en-US" sz="1450" dirty="0"/>
          </a:p>
        </p:txBody>
      </p:sp>
      <p:sp>
        <p:nvSpPr>
          <p:cNvPr id="14" name="Shape 12"/>
          <p:cNvSpPr/>
          <p:nvPr/>
        </p:nvSpPr>
        <p:spPr>
          <a:xfrm>
            <a:off x="914400" y="4617720"/>
            <a:ext cx="457200" cy="457200"/>
          </a:xfrm>
          <a:prstGeom prst="roundRect">
            <a:avLst>
              <a:gd name="adj" fmla="val 50000"/>
            </a:avLst>
          </a:prstGeom>
          <a:solidFill>
            <a:srgbClr val="00C7FF"/>
          </a:solidFill>
          <a:ln/>
        </p:spPr>
      </p:sp>
      <p:sp>
        <p:nvSpPr>
          <p:cNvPr id="15" name="Text 13"/>
          <p:cNvSpPr/>
          <p:nvPr/>
        </p:nvSpPr>
        <p:spPr>
          <a:xfrm>
            <a:off x="914400" y="4617720"/>
            <a:ext cx="457200" cy="457200"/>
          </a:xfrm>
          <a:prstGeom prst="rect">
            <a:avLst/>
          </a:prstGeom>
          <a:noFill/>
          <a:ln/>
        </p:spPr>
        <p:txBody>
          <a:bodyPr wrap="square" lIns="0" tIns="0" rIns="0" bIns="0" rtlCol="0" anchor="ctr"/>
          <a:lstStyle/>
          <a:p>
            <a:pPr marL="0" indent="0" algn="ctr">
              <a:buNone/>
            </a:pPr>
            <a:r>
              <a:rPr lang="en-US" sz="1600" b="1" dirty="0">
                <a:solidFill>
                  <a:srgbClr val="0F307F"/>
                </a:solidFill>
                <a:latin typeface="Cambria" pitchFamily="34" charset="0"/>
                <a:ea typeface="Cambria" pitchFamily="34" charset="-122"/>
                <a:cs typeface="Cambria" pitchFamily="34" charset="-120"/>
              </a:rPr>
              <a:t>4</a:t>
            </a:r>
            <a:endParaRPr lang="en-US" sz="1600" dirty="0"/>
          </a:p>
        </p:txBody>
      </p:sp>
      <p:sp>
        <p:nvSpPr>
          <p:cNvPr id="16" name="Text 14"/>
          <p:cNvSpPr/>
          <p:nvPr/>
        </p:nvSpPr>
        <p:spPr>
          <a:xfrm>
            <a:off x="1554480" y="4572000"/>
            <a:ext cx="9509760" cy="685800"/>
          </a:xfrm>
          <a:prstGeom prst="rect">
            <a:avLst/>
          </a:prstGeom>
          <a:noFill/>
          <a:ln/>
        </p:spPr>
        <p:txBody>
          <a:bodyPr wrap="square" lIns="0" tIns="0" rIns="0" bIns="0" rtlCol="0" anchor="ctr"/>
          <a:lstStyle/>
          <a:p>
            <a:pPr marL="0" indent="0">
              <a:buNone/>
            </a:pPr>
            <a:r>
              <a:rPr lang="en-US" sz="1450" dirty="0">
                <a:solidFill>
                  <a:srgbClr val="111111"/>
                </a:solidFill>
                <a:latin typeface="Calibri" pitchFamily="34" charset="0"/>
                <a:ea typeface="Calibri" pitchFamily="34" charset="-122"/>
                <a:cs typeface="Calibri" pitchFamily="34" charset="-120"/>
              </a:rPr>
              <a:t>A team that can defend every safety decision in front of the judges tomorrow</a:t>
            </a:r>
            <a:endParaRPr lang="en-US" sz="1450" dirty="0"/>
          </a:p>
        </p:txBody>
      </p:sp>
      <p:pic>
        <p:nvPicPr>
          <p:cNvPr id="17" name="Image 0" descr="/home/claude/day4deck/logo_light.png"/>
          <p:cNvPicPr>
            <a:picLocks noChangeAspect="1"/>
          </p:cNvPicPr>
          <p:nvPr/>
        </p:nvPicPr>
        <p:blipFill>
          <a:blip r:embed="rId3"/>
          <a:stretch>
            <a:fillRect/>
          </a:stretch>
        </p:blipFill>
        <p:spPr>
          <a:xfrm>
            <a:off x="457200" y="6291072"/>
            <a:ext cx="384048" cy="384048"/>
          </a:xfrm>
          <a:prstGeom prst="rect">
            <a:avLst/>
          </a:prstGeom>
        </p:spPr>
      </p:pic>
      <p:sp>
        <p:nvSpPr>
          <p:cNvPr id="18" name="Text 15"/>
          <p:cNvSpPr/>
          <p:nvPr/>
        </p:nvSpPr>
        <p:spPr>
          <a:xfrm>
            <a:off x="1005840" y="6327648"/>
            <a:ext cx="7772400" cy="32004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DAY 4  ·  AI CLINICAL DECISION SUPPORT LITE HACKATHON</a:t>
            </a:r>
            <a:endParaRPr lang="en-US" sz="900" dirty="0"/>
          </a:p>
        </p:txBody>
      </p:sp>
      <p:sp>
        <p:nvSpPr>
          <p:cNvPr id="19" name="Text 16"/>
          <p:cNvSpPr/>
          <p:nvPr/>
        </p:nvSpPr>
        <p:spPr>
          <a:xfrm>
            <a:off x="11274552" y="6327648"/>
            <a:ext cx="457200" cy="32004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24</a:t>
            </a:r>
            <a:endParaRPr lang="en-US" sz="900" dirty="0"/>
          </a:p>
        </p:txBody>
      </p:sp>
      <p:pic>
        <p:nvPicPr>
          <p:cNvPr id="20" name="Google Shape;90;p1">
            <a:extLst>
              <a:ext uri="{FF2B5EF4-FFF2-40B4-BE49-F238E27FC236}">
                <a16:creationId xmlns:a16="http://schemas.microsoft.com/office/drawing/2014/main" id="{A8369F9D-766B-402B-8DF4-73D6864D5E80}"/>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0F307F"/>
        </a:solidFill>
        <a:effectLst/>
      </p:bgPr>
    </p:bg>
    <p:spTree>
      <p:nvGrpSpPr>
        <p:cNvPr id="1" name=""/>
        <p:cNvGrpSpPr/>
        <p:nvPr/>
      </p:nvGrpSpPr>
      <p:grpSpPr>
        <a:xfrm>
          <a:off x="0" y="0"/>
          <a:ext cx="0" cy="0"/>
          <a:chOff x="0" y="0"/>
          <a:chExt cx="0" cy="0"/>
        </a:xfrm>
      </p:grpSpPr>
      <p:pic>
        <p:nvPicPr>
          <p:cNvPr id="2" name="Image 0" descr="/home/claude/day4deck/logo_dark.jpg"/>
          <p:cNvPicPr>
            <a:picLocks noChangeAspect="1"/>
          </p:cNvPicPr>
          <p:nvPr/>
        </p:nvPicPr>
        <p:blipFill>
          <a:blip r:embed="rId3"/>
          <a:stretch>
            <a:fillRect/>
          </a:stretch>
        </p:blipFill>
        <p:spPr>
          <a:xfrm>
            <a:off x="5413248" y="822960"/>
            <a:ext cx="1371600" cy="1371600"/>
          </a:xfrm>
          <a:prstGeom prst="rect">
            <a:avLst/>
          </a:prstGeom>
        </p:spPr>
      </p:pic>
      <p:sp>
        <p:nvSpPr>
          <p:cNvPr id="3" name="Text 0"/>
          <p:cNvSpPr/>
          <p:nvPr/>
        </p:nvSpPr>
        <p:spPr>
          <a:xfrm>
            <a:off x="1737360" y="2743200"/>
            <a:ext cx="457200" cy="1005840"/>
          </a:xfrm>
          <a:prstGeom prst="rect">
            <a:avLst/>
          </a:prstGeom>
          <a:noFill/>
          <a:ln/>
        </p:spPr>
        <p:txBody>
          <a:bodyPr wrap="square" lIns="0" tIns="0" rIns="0" bIns="0" rtlCol="0" anchor="ctr"/>
          <a:lstStyle/>
          <a:p>
            <a:pPr marL="0" indent="0" algn="l">
              <a:buNone/>
            </a:pPr>
            <a:r>
              <a:rPr lang="en-US" sz="4840" b="1" dirty="0">
                <a:solidFill>
                  <a:srgbClr val="00C7FF"/>
                </a:solidFill>
                <a:latin typeface="Cambria" pitchFamily="34" charset="0"/>
                <a:ea typeface="Cambria" pitchFamily="34" charset="-122"/>
                <a:cs typeface="Cambria" pitchFamily="34" charset="-120"/>
              </a:rPr>
              <a:t>[</a:t>
            </a:r>
            <a:endParaRPr lang="en-US" sz="4840" dirty="0"/>
          </a:p>
        </p:txBody>
      </p:sp>
      <p:sp>
        <p:nvSpPr>
          <p:cNvPr id="4" name="Text 1"/>
          <p:cNvSpPr/>
          <p:nvPr/>
        </p:nvSpPr>
        <p:spPr>
          <a:xfrm>
            <a:off x="9994392" y="2743200"/>
            <a:ext cx="457200" cy="1005840"/>
          </a:xfrm>
          <a:prstGeom prst="rect">
            <a:avLst/>
          </a:prstGeom>
          <a:noFill/>
          <a:ln/>
        </p:spPr>
        <p:txBody>
          <a:bodyPr wrap="square" lIns="0" tIns="0" rIns="0" bIns="0" rtlCol="0" anchor="ctr"/>
          <a:lstStyle/>
          <a:p>
            <a:pPr marL="0" indent="0" algn="r">
              <a:buNone/>
            </a:pPr>
            <a:r>
              <a:rPr lang="en-US" sz="4840" b="1" dirty="0">
                <a:solidFill>
                  <a:srgbClr val="00C7FF"/>
                </a:solidFill>
                <a:latin typeface="Cambria" pitchFamily="34" charset="0"/>
                <a:ea typeface="Cambria" pitchFamily="34" charset="-122"/>
                <a:cs typeface="Cambria" pitchFamily="34" charset="-120"/>
              </a:rPr>
              <a:t>]</a:t>
            </a:r>
            <a:endParaRPr lang="en-US" sz="4840" dirty="0"/>
          </a:p>
        </p:txBody>
      </p:sp>
      <p:sp>
        <p:nvSpPr>
          <p:cNvPr id="5" name="Text 2"/>
          <p:cNvSpPr/>
          <p:nvPr/>
        </p:nvSpPr>
        <p:spPr>
          <a:xfrm>
            <a:off x="1737360" y="2834640"/>
            <a:ext cx="8714232" cy="8229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Trust, Backed by Numbers</a:t>
            </a:r>
            <a:endParaRPr lang="en-US" sz="3600" dirty="0"/>
          </a:p>
        </p:txBody>
      </p:sp>
      <p:sp>
        <p:nvSpPr>
          <p:cNvPr id="7" name="Text 4"/>
          <p:cNvSpPr/>
          <p:nvPr/>
        </p:nvSpPr>
        <p:spPr>
          <a:xfrm>
            <a:off x="1737360" y="4206240"/>
            <a:ext cx="8714232" cy="457200"/>
          </a:xfrm>
          <a:prstGeom prst="rect">
            <a:avLst/>
          </a:prstGeom>
          <a:noFill/>
          <a:ln/>
        </p:spPr>
        <p:txBody>
          <a:bodyPr wrap="square" lIns="0" tIns="0" rIns="0" bIns="0" rtlCol="0" anchor="ctr"/>
          <a:lstStyle/>
          <a:p>
            <a:pPr marL="0" indent="0" algn="ctr">
              <a:buNone/>
            </a:pPr>
            <a:r>
              <a:rPr lang="en-US" sz="1300" i="1" dirty="0">
                <a:solidFill>
                  <a:srgbClr val="AFC6EF"/>
                </a:solidFill>
                <a:latin typeface="Calibri" pitchFamily="34" charset="0"/>
                <a:ea typeface="Calibri" pitchFamily="34" charset="-122"/>
                <a:cs typeface="Calibri" pitchFamily="34" charset="-120"/>
              </a:rPr>
              <a:t>Questions? Find your Module trainer before you head to your team table.</a:t>
            </a:r>
            <a:endParaRPr lang="en-US" sz="1300" dirty="0"/>
          </a:p>
        </p:txBody>
      </p:sp>
      <p:sp>
        <p:nvSpPr>
          <p:cNvPr id="8" name="Text 5"/>
          <p:cNvSpPr/>
          <p:nvPr/>
        </p:nvSpPr>
        <p:spPr>
          <a:xfrm>
            <a:off x="1737360" y="6126480"/>
            <a:ext cx="8714232" cy="365760"/>
          </a:xfrm>
          <a:prstGeom prst="rect">
            <a:avLst/>
          </a:prstGeom>
          <a:noFill/>
          <a:ln/>
        </p:spPr>
        <p:txBody>
          <a:bodyPr wrap="square" lIns="0" tIns="0" rIns="0" bIns="0" rtlCol="0" anchor="ctr"/>
          <a:lstStyle/>
          <a:p>
            <a:pPr marL="0" indent="0" algn="ctr">
              <a:buNone/>
            </a:pPr>
            <a:r>
              <a:rPr lang="en-US" sz="1100" kern="0" spc="100" dirty="0">
                <a:solidFill>
                  <a:srgbClr val="AFC6EF"/>
                </a:solidFill>
                <a:latin typeface="Calibri" pitchFamily="34" charset="0"/>
                <a:ea typeface="Calibri" pitchFamily="34" charset="-122"/>
                <a:cs typeface="Calibri" pitchFamily="34" charset="-120"/>
              </a:rPr>
              <a:t>AI Clinical Decision Support Lite Hackathon  ·  Day 4  ·  Instant</a:t>
            </a:r>
            <a:endParaRPr lang="en-US" sz="1100" dirty="0"/>
          </a:p>
        </p:txBody>
      </p:sp>
      <p:pic>
        <p:nvPicPr>
          <p:cNvPr id="9" name="Google Shape;90;p1">
            <a:extLst>
              <a:ext uri="{FF2B5EF4-FFF2-40B4-BE49-F238E27FC236}">
                <a16:creationId xmlns:a16="http://schemas.microsoft.com/office/drawing/2014/main" id="{7E3A7814-C575-4C2D-9D45-31D9EC7572AE}"/>
              </a:ext>
            </a:extLst>
          </p:cNvPr>
          <p:cNvPicPr preferRelativeResize="0"/>
          <p:nvPr/>
        </p:nvPicPr>
        <p:blipFill>
          <a:blip r:embed="rId4"/>
          <a:srcRect/>
          <a:stretch/>
        </p:blipFill>
        <p:spPr>
          <a:xfrm>
            <a:off x="10510684" y="-9329"/>
            <a:ext cx="1681316" cy="155349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1626</Words>
  <Application>Microsoft Office PowerPoint</Application>
  <PresentationFormat>Widescreen</PresentationFormat>
  <Paragraphs>341</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Abdallah Wagih</cp:lastModifiedBy>
  <cp:revision>5</cp:revision>
  <dcterms:created xsi:type="dcterms:W3CDTF">2026-08-09T06:48:38Z</dcterms:created>
  <dcterms:modified xsi:type="dcterms:W3CDTF">2026-08-09T07:06:21Z</dcterms:modified>
</cp:coreProperties>
</file>